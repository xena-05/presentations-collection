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23"/>
  </p:notesMasterIdLst>
  <p:sldIdLst>
    <p:sldId id="256" r:id="rId2"/>
    <p:sldId id="257" r:id="rId3"/>
    <p:sldId id="260" r:id="rId4"/>
    <p:sldId id="261" r:id="rId5"/>
    <p:sldId id="312" r:id="rId6"/>
    <p:sldId id="313" r:id="rId7"/>
    <p:sldId id="263" r:id="rId8"/>
    <p:sldId id="26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3" r:id="rId17"/>
    <p:sldId id="324" r:id="rId18"/>
    <p:sldId id="325" r:id="rId19"/>
    <p:sldId id="266" r:id="rId20"/>
    <p:sldId id="265" r:id="rId21"/>
    <p:sldId id="322" r:id="rId22"/>
  </p:sldIdLst>
  <p:sldSz cx="9144000" cy="5143500" type="screen16x9"/>
  <p:notesSz cx="6858000" cy="9144000"/>
  <p:embeddedFontLst>
    <p:embeddedFont>
      <p:font typeface="Prompt" panose="00000500000000000000" pitchFamily="2" charset="-34"/>
      <p:regular r:id="rId24"/>
      <p:bold r:id="rId25"/>
      <p:italic r:id="rId26"/>
      <p:boldItalic r:id="rId27"/>
    </p:embeddedFont>
    <p:embeddedFont>
      <p:font typeface="Roboto Condensed" panose="02000000000000000000" pitchFamily="2" charset="0"/>
      <p:regular r:id="rId28"/>
      <p:bold r:id="rId29"/>
      <p:italic r:id="rId30"/>
      <p:boldItalic r:id="rId31"/>
    </p:embeddedFont>
    <p:embeddedFont>
      <p:font typeface="Space Mono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92E4BE-C9F0-498A-BB53-988F2C640B6E}">
  <a:tblStyle styleId="{AD92E4BE-C9F0-498A-BB53-988F2C640B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569b59b08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5" name="Google Shape;285;g1569b59b08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569b59b08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2" name="Google Shape;292;g1569b59b08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569b59b089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5" name="Google Shape;335;g1569b59b089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569b59b089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42" name="Google Shape;342;g1569b59b089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DCF622EC-E023-C518-0477-46EB410A3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3f3ab3b77e_1_182:notes">
            <a:extLst>
              <a:ext uri="{FF2B5EF4-FFF2-40B4-BE49-F238E27FC236}">
                <a16:creationId xmlns:a16="http://schemas.microsoft.com/office/drawing/2014/main" id="{D66063C9-6886-6609-087C-28CC5A5BF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0" name="Google Shape;390;g13f3ab3b77e_1_182:notes">
            <a:extLst>
              <a:ext uri="{FF2B5EF4-FFF2-40B4-BE49-F238E27FC236}">
                <a16:creationId xmlns:a16="http://schemas.microsoft.com/office/drawing/2014/main" id="{6EA021BA-8C9A-9053-BDD1-52E4CE92B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4222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18376E0E-109F-30DF-2A9A-D5D47127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569b59b089_0_190:notes">
            <a:extLst>
              <a:ext uri="{FF2B5EF4-FFF2-40B4-BE49-F238E27FC236}">
                <a16:creationId xmlns:a16="http://schemas.microsoft.com/office/drawing/2014/main" id="{14827718-9A7B-1578-C9A9-D7C94A2020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42" name="Google Shape;342;g1569b59b089_0_190:notes">
            <a:extLst>
              <a:ext uri="{FF2B5EF4-FFF2-40B4-BE49-F238E27FC236}">
                <a16:creationId xmlns:a16="http://schemas.microsoft.com/office/drawing/2014/main" id="{B59DC174-6278-F9C1-F792-7119E34F5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0171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5711de276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80" name="Google Shape;380;g15711de2763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3f3ab3b77e_1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0" name="Google Shape;390;g13f3ab3b77e_1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58F8CB26-1635-0DD8-C074-3696569A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3f3ab3b77e_1_182:notes">
            <a:extLst>
              <a:ext uri="{FF2B5EF4-FFF2-40B4-BE49-F238E27FC236}">
                <a16:creationId xmlns:a16="http://schemas.microsoft.com/office/drawing/2014/main" id="{14144323-FDC8-0A84-8BE8-40847BA0A8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0" name="Google Shape;390;g13f3ab3b77e_1_182:notes">
            <a:extLst>
              <a:ext uri="{FF2B5EF4-FFF2-40B4-BE49-F238E27FC236}">
                <a16:creationId xmlns:a16="http://schemas.microsoft.com/office/drawing/2014/main" id="{296AE1DC-A288-3F77-E25A-F1BF1B928C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446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164546FF-E958-A0C5-17E9-855A3B96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569b59b089_0_190:notes">
            <a:extLst>
              <a:ext uri="{FF2B5EF4-FFF2-40B4-BE49-F238E27FC236}">
                <a16:creationId xmlns:a16="http://schemas.microsoft.com/office/drawing/2014/main" id="{624C8AAE-3DC8-D75D-7E31-0ED68559AD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42" name="Google Shape;342;g1569b59b089_0_190:notes">
            <a:extLst>
              <a:ext uri="{FF2B5EF4-FFF2-40B4-BE49-F238E27FC236}">
                <a16:creationId xmlns:a16="http://schemas.microsoft.com/office/drawing/2014/main" id="{000F6FF5-A04F-527B-0056-3E5333704A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7900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>
          <a:extLst>
            <a:ext uri="{FF2B5EF4-FFF2-40B4-BE49-F238E27FC236}">
              <a16:creationId xmlns:a16="http://schemas.microsoft.com/office/drawing/2014/main" id="{B9B7F43C-81A0-D26E-0A74-9A955F96E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5711de2763_0_81:notes">
            <a:extLst>
              <a:ext uri="{FF2B5EF4-FFF2-40B4-BE49-F238E27FC236}">
                <a16:creationId xmlns:a16="http://schemas.microsoft.com/office/drawing/2014/main" id="{76E01A8B-FBAD-78C4-4CFC-5AEE26E0C0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80" name="Google Shape;380;g15711de2763_0_81:notes">
            <a:extLst>
              <a:ext uri="{FF2B5EF4-FFF2-40B4-BE49-F238E27FC236}">
                <a16:creationId xmlns:a16="http://schemas.microsoft.com/office/drawing/2014/main" id="{1ABFC15F-79DF-FF5D-5D65-6F390033D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8244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>
          <a:extLst>
            <a:ext uri="{FF2B5EF4-FFF2-40B4-BE49-F238E27FC236}">
              <a16:creationId xmlns:a16="http://schemas.microsoft.com/office/drawing/2014/main" id="{260A9EE9-41A1-119A-33A4-846B18EF4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5711de2763_0_81:notes">
            <a:extLst>
              <a:ext uri="{FF2B5EF4-FFF2-40B4-BE49-F238E27FC236}">
                <a16:creationId xmlns:a16="http://schemas.microsoft.com/office/drawing/2014/main" id="{436F34BD-A715-4BA4-B13E-910C5129B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80" name="Google Shape;380;g15711de2763_0_81:notes">
            <a:extLst>
              <a:ext uri="{FF2B5EF4-FFF2-40B4-BE49-F238E27FC236}">
                <a16:creationId xmlns:a16="http://schemas.microsoft.com/office/drawing/2014/main" id="{807F111C-466A-7349-A103-B17B5BBEE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0336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>
          <a:extLst>
            <a:ext uri="{FF2B5EF4-FFF2-40B4-BE49-F238E27FC236}">
              <a16:creationId xmlns:a16="http://schemas.microsoft.com/office/drawing/2014/main" id="{00CBA1D1-B8A5-75A4-3E3A-5F4BB02BD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5711de2763_0_81:notes">
            <a:extLst>
              <a:ext uri="{FF2B5EF4-FFF2-40B4-BE49-F238E27FC236}">
                <a16:creationId xmlns:a16="http://schemas.microsoft.com/office/drawing/2014/main" id="{4D2EC105-AB67-1DE0-3DBD-017AD79D08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80" name="Google Shape;380;g15711de2763_0_81:notes">
            <a:extLst>
              <a:ext uri="{FF2B5EF4-FFF2-40B4-BE49-F238E27FC236}">
                <a16:creationId xmlns:a16="http://schemas.microsoft.com/office/drawing/2014/main" id="{2293C68D-D74A-0273-4A94-101255E9D1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4739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50A51F3F-FD5A-5671-801E-0F13D7D8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5711de2763_0_206:notes">
            <a:extLst>
              <a:ext uri="{FF2B5EF4-FFF2-40B4-BE49-F238E27FC236}">
                <a16:creationId xmlns:a16="http://schemas.microsoft.com/office/drawing/2014/main" id="{B77D649E-200D-4E0F-F64C-06CD6FCBF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06" name="Google Shape;406;g15711de2763_0_206:notes">
            <a:extLst>
              <a:ext uri="{FF2B5EF4-FFF2-40B4-BE49-F238E27FC236}">
                <a16:creationId xmlns:a16="http://schemas.microsoft.com/office/drawing/2014/main" id="{FC8EE12A-BE97-378A-1535-19DE9C112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2318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>
          <a:extLst>
            <a:ext uri="{FF2B5EF4-FFF2-40B4-BE49-F238E27FC236}">
              <a16:creationId xmlns:a16="http://schemas.microsoft.com/office/drawing/2014/main" id="{4208896F-A74A-6095-8A05-19EFC69CC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5711de2763_0_119:notes">
            <a:extLst>
              <a:ext uri="{FF2B5EF4-FFF2-40B4-BE49-F238E27FC236}">
                <a16:creationId xmlns:a16="http://schemas.microsoft.com/office/drawing/2014/main" id="{AE773DE3-3643-D22E-5E6E-D7C200C1A1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9" name="Google Shape;399;g15711de2763_0_119:notes">
            <a:extLst>
              <a:ext uri="{FF2B5EF4-FFF2-40B4-BE49-F238E27FC236}">
                <a16:creationId xmlns:a16="http://schemas.microsoft.com/office/drawing/2014/main" id="{AF661A53-2B9A-7C15-2DDD-22B11EBCC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545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>
          <a:extLst>
            <a:ext uri="{FF2B5EF4-FFF2-40B4-BE49-F238E27FC236}">
              <a16:creationId xmlns:a16="http://schemas.microsoft.com/office/drawing/2014/main" id="{80157A31-8DD7-304C-FF6A-060DD8A6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5711de2763_0_119:notes">
            <a:extLst>
              <a:ext uri="{FF2B5EF4-FFF2-40B4-BE49-F238E27FC236}">
                <a16:creationId xmlns:a16="http://schemas.microsoft.com/office/drawing/2014/main" id="{F16CBD41-0C73-28AE-D4C3-DB52BDB39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9" name="Google Shape;399;g15711de2763_0_119:notes">
            <a:extLst>
              <a:ext uri="{FF2B5EF4-FFF2-40B4-BE49-F238E27FC236}">
                <a16:creationId xmlns:a16="http://schemas.microsoft.com/office/drawing/2014/main" id="{35DC2BF3-5E0A-BA55-2709-B6FD13F0FB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79700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>
          <a:extLst>
            <a:ext uri="{FF2B5EF4-FFF2-40B4-BE49-F238E27FC236}">
              <a16:creationId xmlns:a16="http://schemas.microsoft.com/office/drawing/2014/main" id="{F16E4C22-5334-C680-29E5-BCE9B7FED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5711de2763_0_119:notes">
            <a:extLst>
              <a:ext uri="{FF2B5EF4-FFF2-40B4-BE49-F238E27FC236}">
                <a16:creationId xmlns:a16="http://schemas.microsoft.com/office/drawing/2014/main" id="{4E008F52-7921-A067-8997-44BE9F1B6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9" name="Google Shape;399;g15711de2763_0_119:notes">
            <a:extLst>
              <a:ext uri="{FF2B5EF4-FFF2-40B4-BE49-F238E27FC236}">
                <a16:creationId xmlns:a16="http://schemas.microsoft.com/office/drawing/2014/main" id="{60264FA1-6703-7BFA-2701-82911379F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96951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>
          <a:extLst>
            <a:ext uri="{FF2B5EF4-FFF2-40B4-BE49-F238E27FC236}">
              <a16:creationId xmlns:a16="http://schemas.microsoft.com/office/drawing/2014/main" id="{79C68C1D-93E0-E24E-03EB-665FBA29C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5711de2763_0_119:notes">
            <a:extLst>
              <a:ext uri="{FF2B5EF4-FFF2-40B4-BE49-F238E27FC236}">
                <a16:creationId xmlns:a16="http://schemas.microsoft.com/office/drawing/2014/main" id="{EADA7E7D-D924-9599-3E2E-B202AA2A2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9" name="Google Shape;399;g15711de2763_0_119:notes">
            <a:extLst>
              <a:ext uri="{FF2B5EF4-FFF2-40B4-BE49-F238E27FC236}">
                <a16:creationId xmlns:a16="http://schemas.microsoft.com/office/drawing/2014/main" id="{F77DB9DF-0B36-C272-A750-84E2CA54B9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39561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5711de2763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06" name="Google Shape;406;g15711de2763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5711de2763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9" name="Google Shape;399;g15711de2763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DE5CEC75-4BF5-9AC8-AC59-F30EA4B60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5711de2763_0_206:notes">
            <a:extLst>
              <a:ext uri="{FF2B5EF4-FFF2-40B4-BE49-F238E27FC236}">
                <a16:creationId xmlns:a16="http://schemas.microsoft.com/office/drawing/2014/main" id="{6A3587DE-87A6-337C-9227-D286A4385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06" name="Google Shape;406;g15711de2763_0_206:notes">
            <a:extLst>
              <a:ext uri="{FF2B5EF4-FFF2-40B4-BE49-F238E27FC236}">
                <a16:creationId xmlns:a16="http://schemas.microsoft.com/office/drawing/2014/main" id="{0F48D158-1AA9-03DC-046B-86524D385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402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50" y="2711500"/>
            <a:ext cx="7717500" cy="118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000" b="1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50" y="4035575"/>
            <a:ext cx="77175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0" y="4911898"/>
            <a:ext cx="9143700" cy="23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50" y="1"/>
            <a:ext cx="9143700" cy="2070897"/>
            <a:chOff x="50" y="1"/>
            <a:chExt cx="9143700" cy="2070897"/>
          </a:xfrm>
        </p:grpSpPr>
        <p:sp>
          <p:nvSpPr>
            <p:cNvPr id="13" name="Google Shape;13;p2"/>
            <p:cNvSpPr/>
            <p:nvPr/>
          </p:nvSpPr>
          <p:spPr>
            <a:xfrm>
              <a:off x="50" y="1"/>
              <a:ext cx="9143700" cy="534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" y="18392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0" y="14552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" y="10712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0" y="6872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50" y="4527898"/>
            <a:ext cx="9143700" cy="615600"/>
            <a:chOff x="50" y="4527898"/>
            <a:chExt cx="9143700" cy="615600"/>
          </a:xfrm>
        </p:grpSpPr>
        <p:sp>
          <p:nvSpPr>
            <p:cNvPr id="20" name="Google Shape;20;p3"/>
            <p:cNvSpPr/>
            <p:nvPr/>
          </p:nvSpPr>
          <p:spPr>
            <a:xfrm>
              <a:off x="50" y="49118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50" y="45278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713225" y="2998800"/>
            <a:ext cx="6227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320075"/>
            <a:ext cx="1913100" cy="102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713225" y="3837888"/>
            <a:ext cx="5379300" cy="534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50" y="4911898"/>
            <a:ext cx="9143700" cy="23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13" y="1644425"/>
            <a:ext cx="3710400" cy="10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713163" y="3168775"/>
            <a:ext cx="3710400" cy="10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720438" y="3168796"/>
            <a:ext cx="3710400" cy="10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title" idx="3"/>
          </p:nvPr>
        </p:nvSpPr>
        <p:spPr>
          <a:xfrm>
            <a:off x="4720438" y="1644425"/>
            <a:ext cx="3710400" cy="102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50" y="4911898"/>
            <a:ext cx="9143700" cy="23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7"/>
          <p:cNvGrpSpPr/>
          <p:nvPr/>
        </p:nvGrpSpPr>
        <p:grpSpPr>
          <a:xfrm>
            <a:off x="50" y="-2"/>
            <a:ext cx="9143700" cy="5143500"/>
            <a:chOff x="50" y="-2"/>
            <a:chExt cx="9143700" cy="5143500"/>
          </a:xfrm>
        </p:grpSpPr>
        <p:sp>
          <p:nvSpPr>
            <p:cNvPr id="39" name="Google Shape;39;p7"/>
            <p:cNvSpPr/>
            <p:nvPr/>
          </p:nvSpPr>
          <p:spPr>
            <a:xfrm>
              <a:off x="50" y="49118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7"/>
            <p:cNvSpPr/>
            <p:nvPr/>
          </p:nvSpPr>
          <p:spPr>
            <a:xfrm>
              <a:off x="50" y="-2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713225" y="1716225"/>
            <a:ext cx="4319700" cy="22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mpt"/>
              <a:buChar char="■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mp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mp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mp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mp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mp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mp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mp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romp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1882350" y="965525"/>
            <a:ext cx="5379300" cy="79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1882350" y="1843425"/>
            <a:ext cx="5379300" cy="12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1" name="Google Shape;51;p9"/>
          <p:cNvGrpSpPr/>
          <p:nvPr/>
        </p:nvGrpSpPr>
        <p:grpSpPr>
          <a:xfrm>
            <a:off x="50" y="4224601"/>
            <a:ext cx="9143700" cy="918897"/>
            <a:chOff x="50" y="4224601"/>
            <a:chExt cx="9143700" cy="918897"/>
          </a:xfrm>
        </p:grpSpPr>
        <p:sp>
          <p:nvSpPr>
            <p:cNvPr id="52" name="Google Shape;52;p9"/>
            <p:cNvSpPr/>
            <p:nvPr/>
          </p:nvSpPr>
          <p:spPr>
            <a:xfrm rot="10800000" flipH="1">
              <a:off x="50" y="4608598"/>
              <a:ext cx="9143700" cy="534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9"/>
            <p:cNvSpPr/>
            <p:nvPr/>
          </p:nvSpPr>
          <p:spPr>
            <a:xfrm rot="10800000" flipH="1">
              <a:off x="50" y="4224601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5"/>
          <p:cNvGrpSpPr/>
          <p:nvPr/>
        </p:nvGrpSpPr>
        <p:grpSpPr>
          <a:xfrm flipH="1">
            <a:off x="375" y="4527898"/>
            <a:ext cx="9143700" cy="615600"/>
            <a:chOff x="50" y="4527898"/>
            <a:chExt cx="9143700" cy="615600"/>
          </a:xfrm>
        </p:grpSpPr>
        <p:sp>
          <p:nvSpPr>
            <p:cNvPr id="91" name="Google Shape;91;p15"/>
            <p:cNvSpPr/>
            <p:nvPr/>
          </p:nvSpPr>
          <p:spPr>
            <a:xfrm>
              <a:off x="50" y="49118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50" y="45278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15"/>
          <p:cNvSpPr txBox="1">
            <a:spLocks noGrp="1"/>
          </p:cNvSpPr>
          <p:nvPr>
            <p:ph type="title"/>
          </p:nvPr>
        </p:nvSpPr>
        <p:spPr>
          <a:xfrm flipH="1">
            <a:off x="2101800" y="2998800"/>
            <a:ext cx="6329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517800" y="1320075"/>
            <a:ext cx="1913100" cy="102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1"/>
          </p:nvPr>
        </p:nvSpPr>
        <p:spPr>
          <a:xfrm flipH="1">
            <a:off x="3051450" y="3837888"/>
            <a:ext cx="5379300" cy="53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CUSTOM_15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Mono"/>
              <a:buNone/>
              <a:defRPr sz="3000" b="1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subTitle" idx="1"/>
          </p:nvPr>
        </p:nvSpPr>
        <p:spPr>
          <a:xfrm>
            <a:off x="713238" y="1888825"/>
            <a:ext cx="3510000" cy="20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4"/>
          <p:cNvSpPr txBox="1">
            <a:spLocks noGrp="1"/>
          </p:cNvSpPr>
          <p:nvPr>
            <p:ph type="subTitle" idx="2"/>
          </p:nvPr>
        </p:nvSpPr>
        <p:spPr>
          <a:xfrm>
            <a:off x="4920763" y="1888804"/>
            <a:ext cx="3510000" cy="20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1" name="Google Shape;191;p34"/>
          <p:cNvGrpSpPr/>
          <p:nvPr/>
        </p:nvGrpSpPr>
        <p:grpSpPr>
          <a:xfrm>
            <a:off x="50" y="4704548"/>
            <a:ext cx="9144025" cy="438950"/>
            <a:chOff x="50" y="4704548"/>
            <a:chExt cx="9144025" cy="438950"/>
          </a:xfrm>
        </p:grpSpPr>
        <p:sp>
          <p:nvSpPr>
            <p:cNvPr id="192" name="Google Shape;192;p34"/>
            <p:cNvSpPr/>
            <p:nvPr/>
          </p:nvSpPr>
          <p:spPr>
            <a:xfrm>
              <a:off x="50" y="49118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4"/>
            <p:cNvSpPr/>
            <p:nvPr/>
          </p:nvSpPr>
          <p:spPr>
            <a:xfrm flipH="1">
              <a:off x="375" y="4704548"/>
              <a:ext cx="9143700" cy="54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40"/>
          <p:cNvGrpSpPr/>
          <p:nvPr/>
        </p:nvGrpSpPr>
        <p:grpSpPr>
          <a:xfrm>
            <a:off x="150" y="1"/>
            <a:ext cx="9143700" cy="5143497"/>
            <a:chOff x="150" y="1"/>
            <a:chExt cx="9143700" cy="5143497"/>
          </a:xfrm>
        </p:grpSpPr>
        <p:grpSp>
          <p:nvGrpSpPr>
            <p:cNvPr id="262" name="Google Shape;262;p40"/>
            <p:cNvGrpSpPr/>
            <p:nvPr/>
          </p:nvGrpSpPr>
          <p:grpSpPr>
            <a:xfrm rot="10800000" flipH="1">
              <a:off x="150" y="3072601"/>
              <a:ext cx="9143700" cy="2070897"/>
              <a:chOff x="50" y="1"/>
              <a:chExt cx="9143700" cy="2070897"/>
            </a:xfrm>
          </p:grpSpPr>
          <p:sp>
            <p:nvSpPr>
              <p:cNvPr id="263" name="Google Shape;263;p40"/>
              <p:cNvSpPr/>
              <p:nvPr/>
            </p:nvSpPr>
            <p:spPr>
              <a:xfrm>
                <a:off x="50" y="1839298"/>
                <a:ext cx="9143700" cy="231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40"/>
              <p:cNvSpPr/>
              <p:nvPr/>
            </p:nvSpPr>
            <p:spPr>
              <a:xfrm>
                <a:off x="50" y="1"/>
                <a:ext cx="9143700" cy="5349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40"/>
              <p:cNvSpPr/>
              <p:nvPr/>
            </p:nvSpPr>
            <p:spPr>
              <a:xfrm>
                <a:off x="50" y="1455298"/>
                <a:ext cx="9143700" cy="231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40"/>
              <p:cNvSpPr/>
              <p:nvPr/>
            </p:nvSpPr>
            <p:spPr>
              <a:xfrm>
                <a:off x="50" y="1071298"/>
                <a:ext cx="9143700" cy="231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40"/>
              <p:cNvSpPr/>
              <p:nvPr/>
            </p:nvSpPr>
            <p:spPr>
              <a:xfrm>
                <a:off x="50" y="687298"/>
                <a:ext cx="9143700" cy="231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8" name="Google Shape;268;p40"/>
            <p:cNvSpPr/>
            <p:nvPr/>
          </p:nvSpPr>
          <p:spPr>
            <a:xfrm rot="10800000" flipH="1">
              <a:off x="150" y="1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41"/>
          <p:cNvGrpSpPr/>
          <p:nvPr/>
        </p:nvGrpSpPr>
        <p:grpSpPr>
          <a:xfrm>
            <a:off x="50" y="1"/>
            <a:ext cx="9143800" cy="5143497"/>
            <a:chOff x="50" y="1"/>
            <a:chExt cx="9143800" cy="5143497"/>
          </a:xfrm>
        </p:grpSpPr>
        <p:sp>
          <p:nvSpPr>
            <p:cNvPr id="271" name="Google Shape;271;p41"/>
            <p:cNvSpPr/>
            <p:nvPr/>
          </p:nvSpPr>
          <p:spPr>
            <a:xfrm>
              <a:off x="150" y="18392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41"/>
            <p:cNvSpPr/>
            <p:nvPr/>
          </p:nvSpPr>
          <p:spPr>
            <a:xfrm>
              <a:off x="150" y="1"/>
              <a:ext cx="9143700" cy="534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1"/>
            <p:cNvSpPr/>
            <p:nvPr/>
          </p:nvSpPr>
          <p:spPr>
            <a:xfrm>
              <a:off x="150" y="14552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1"/>
            <p:cNvSpPr/>
            <p:nvPr/>
          </p:nvSpPr>
          <p:spPr>
            <a:xfrm>
              <a:off x="150" y="10712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1"/>
            <p:cNvSpPr/>
            <p:nvPr/>
          </p:nvSpPr>
          <p:spPr>
            <a:xfrm>
              <a:off x="150" y="6872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1"/>
            <p:cNvSpPr/>
            <p:nvPr/>
          </p:nvSpPr>
          <p:spPr>
            <a:xfrm>
              <a:off x="50" y="4911898"/>
              <a:ext cx="9143700" cy="231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Mono"/>
              <a:buNone/>
              <a:defRPr sz="3000" b="1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61" r:id="rId8"/>
    <p:sldLayoutId id="2147483680" r:id="rId9"/>
    <p:sldLayoutId id="2147483686" r:id="rId10"/>
    <p:sldLayoutId id="214748368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co.com/site/us/en/learn/topics/security/what-is-a-cyberattack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cisco.com/site/us/en/learn/topics/security/what-is-ransomware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apisecurity.io/" TargetMode="External"/><Relationship Id="rId3" Type="http://schemas.openxmlformats.org/officeDocument/2006/relationships/hyperlink" Target="https://krebsonsecurity.com/" TargetMode="External"/><Relationship Id="rId7" Type="http://schemas.openxmlformats.org/officeDocument/2006/relationships/hyperlink" Target="https://www.vulnu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tldr.tech/infosec" TargetMode="External"/><Relationship Id="rId5" Type="http://schemas.openxmlformats.org/officeDocument/2006/relationships/hyperlink" Target="https://www.threatswithoutborders.com/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www.sans.org/newsletters/newsbites" TargetMode="External"/><Relationship Id="rId9" Type="http://schemas.openxmlformats.org/officeDocument/2006/relationships/hyperlink" Target="https://blockthreat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auljerimy.com/security-certification-roadma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playlist?list=PLLlr6jKKdyK3xfwHtLwxcTEUC4xVrIB-M" TargetMode="External"/><Relationship Id="rId3" Type="http://schemas.openxmlformats.org/officeDocument/2006/relationships/hyperlink" Target="https://www.isc2.org/training/self-study-resources" TargetMode="External"/><Relationship Id="rId7" Type="http://schemas.openxmlformats.org/officeDocument/2006/relationships/hyperlink" Target="https://www.youtube.com/watch?v=WiYuS9ft78I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playlist?list=PLEiEAq2VkUUJfPOj5nRounXvf3n17PCft" TargetMode="External"/><Relationship Id="rId5" Type="http://schemas.openxmlformats.org/officeDocument/2006/relationships/hyperlink" Target="https://www.examtopics.com/" TargetMode="External"/><Relationship Id="rId4" Type="http://schemas.openxmlformats.org/officeDocument/2006/relationships/hyperlink" Target="https://www.cybrary.it/study-guide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co.com/site/us/en/learn/topics/security/what-is-cybersecurity.html" TargetMode="External"/><Relationship Id="rId7" Type="http://schemas.openxmlformats.org/officeDocument/2006/relationships/hyperlink" Target="https://encryptorium.medium.com/understanding-cybersecurity-teams-red-blue-green-white-and-more-a114ada67021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indeed.com/career/cybersecurity-analyst/salaries" TargetMode="External"/><Relationship Id="rId5" Type="http://schemas.openxmlformats.org/officeDocument/2006/relationships/hyperlink" Target="https://www.salaryexpert.com/salary/job/cyber-security-analyst/egypt#:~:text=202.98%20%D8%AC.%D9%85.%E2%80%8F%20(,%E2%80%8F" TargetMode="External"/><Relationship Id="rId4" Type="http://schemas.openxmlformats.org/officeDocument/2006/relationships/hyperlink" Target="https://www.hotcourses.ae/study-abroad-info/careers-prospects/cybersecurity-jobs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>
            <a:spLocks noGrp="1"/>
          </p:cNvSpPr>
          <p:nvPr>
            <p:ph type="subTitle" idx="1"/>
          </p:nvPr>
        </p:nvSpPr>
        <p:spPr>
          <a:xfrm>
            <a:off x="713250" y="4035575"/>
            <a:ext cx="77175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Cybersecurity E-JUST club                                 Instructor - Zaina Wael</a:t>
            </a:r>
            <a:endParaRPr dirty="0"/>
          </a:p>
        </p:txBody>
      </p:sp>
      <p:cxnSp>
        <p:nvCxnSpPr>
          <p:cNvPr id="288" name="Google Shape;288;p45"/>
          <p:cNvCxnSpPr/>
          <p:nvPr/>
        </p:nvCxnSpPr>
        <p:spPr>
          <a:xfrm>
            <a:off x="-19500" y="3893400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9" name="Google Shape;289;p45"/>
          <p:cNvSpPr txBox="1">
            <a:spLocks noGrp="1"/>
          </p:cNvSpPr>
          <p:nvPr>
            <p:ph type="ctrTitle"/>
          </p:nvPr>
        </p:nvSpPr>
        <p:spPr>
          <a:xfrm>
            <a:off x="713250" y="2711500"/>
            <a:ext cx="7717500" cy="118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dirty="0"/>
              <a:t>Cyber Security</a:t>
            </a:r>
            <a:r>
              <a:rPr lang="en" sz="2000" b="0" dirty="0"/>
              <a:t> </a:t>
            </a:r>
            <a:endParaRPr sz="2000" b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dirty="0"/>
              <a:t>Re-Introduction,Future Plans, And Resources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4D0A34-D298-2CA7-9CB8-868865171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40" y="4035575"/>
            <a:ext cx="512613" cy="51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graphicFrame>
        <p:nvGraphicFramePr>
          <p:cNvPr id="295" name="Google Shape;295;p46"/>
          <p:cNvGraphicFramePr/>
          <p:nvPr>
            <p:extLst>
              <p:ext uri="{D42A27DB-BD31-4B8C-83A1-F6EECF244321}">
                <p14:modId xmlns:p14="http://schemas.microsoft.com/office/powerpoint/2010/main" val="628107304"/>
              </p:ext>
            </p:extLst>
          </p:nvPr>
        </p:nvGraphicFramePr>
        <p:xfrm>
          <a:off x="713213" y="1597950"/>
          <a:ext cx="7704000" cy="2240150"/>
        </p:xfrm>
        <a:graphic>
          <a:graphicData uri="http://schemas.openxmlformats.org/drawingml/2006/table">
            <a:tbl>
              <a:tblPr>
                <a:noFill/>
                <a:tableStyleId>{AD92E4BE-C9F0-498A-BB53-988F2C640B6E}</a:tableStyleId>
              </a:tblPr>
              <a:tblGrid>
                <a:gridCol w="26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What is cybersecurity?</a:t>
                      </a:r>
                      <a:endParaRPr sz="1000" b="1" dirty="0">
                        <a:solidFill>
                          <a:schemeClr val="dk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small re-introduction into the digital world and it’s security systems</a:t>
                      </a:r>
                      <a:endParaRPr sz="1000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Job market</a:t>
                      </a:r>
                      <a:endParaRPr sz="1000" b="1" dirty="0">
                        <a:solidFill>
                          <a:schemeClr val="dk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look into how the job market looks like? </a:t>
                      </a:r>
                      <a:r>
                        <a:rPr lang="en-US" sz="1000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Roles, Saturation, Salaries, And more</a:t>
                      </a:r>
                      <a:endParaRPr sz="1000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Tracks</a:t>
                      </a:r>
                      <a:endParaRPr sz="1000" b="1" dirty="0">
                        <a:solidFill>
                          <a:schemeClr val="dk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general but not comperhensive guide into the different tracks of cyber security</a:t>
                      </a:r>
                      <a:endParaRPr sz="1000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Resources</a:t>
                      </a:r>
                      <a:endParaRPr sz="1000" b="1" dirty="0">
                        <a:solidFill>
                          <a:schemeClr val="dk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list of links for Certifications, Internships,Newsletters, And Self learning</a:t>
                      </a:r>
                      <a:endParaRPr sz="1000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References</a:t>
                      </a:r>
                      <a:endParaRPr sz="1000" b="1" dirty="0">
                        <a:solidFill>
                          <a:schemeClr val="dk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Links to read more into our resources for this specific presentation in case of wanting to read some more</a:t>
                      </a:r>
                      <a:endParaRPr sz="1000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dk1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What’s next?</a:t>
                      </a:r>
                      <a:endParaRPr sz="1000" b="1" dirty="0">
                        <a:solidFill>
                          <a:schemeClr val="dk1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 sneak peak into our club’s plan :D</a:t>
                      </a:r>
                      <a:endParaRPr sz="1000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99" name="Google Shape;299;p46"/>
          <p:cNvCxnSpPr/>
          <p:nvPr/>
        </p:nvCxnSpPr>
        <p:spPr>
          <a:xfrm>
            <a:off x="-19500" y="1152025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9"/>
          <p:cNvSpPr txBox="1">
            <a:spLocks noGrp="1"/>
          </p:cNvSpPr>
          <p:nvPr>
            <p:ph type="title"/>
          </p:nvPr>
        </p:nvSpPr>
        <p:spPr>
          <a:xfrm>
            <a:off x="1882350" y="965525"/>
            <a:ext cx="5379300" cy="79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Breaking news!</a:t>
            </a:r>
            <a:endParaRPr dirty="0"/>
          </a:p>
        </p:txBody>
      </p:sp>
      <p:sp>
        <p:nvSpPr>
          <p:cNvPr id="338" name="Google Shape;338;p49"/>
          <p:cNvSpPr txBox="1">
            <a:spLocks noGrp="1"/>
          </p:cNvSpPr>
          <p:nvPr>
            <p:ph type="subTitle" idx="1"/>
          </p:nvPr>
        </p:nvSpPr>
        <p:spPr>
          <a:xfrm>
            <a:off x="1882350" y="1843425"/>
            <a:ext cx="5379300" cy="12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AI-related illicit activity surged 1,500% in a single month!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3.3B compromised credentials are now fueling identity-based attacks!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Ransomware incidents increased 53% as groups pivot toward pure-play extortion.</a:t>
            </a:r>
          </a:p>
          <a:p>
            <a:pPr marL="0" lvl="0" indent="0" algn="r"/>
            <a:r>
              <a:rPr lang="en-US" sz="1200" dirty="0"/>
              <a:t>-flashpoint annual threat intelligence report</a:t>
            </a:r>
          </a:p>
        </p:txBody>
      </p:sp>
      <p:cxnSp>
        <p:nvCxnSpPr>
          <p:cNvPr id="339" name="Google Shape;339;p49"/>
          <p:cNvCxnSpPr/>
          <p:nvPr/>
        </p:nvCxnSpPr>
        <p:spPr>
          <a:xfrm>
            <a:off x="-19500" y="1755725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/>
          <p:cNvSpPr txBox="1">
            <a:spLocks noGrp="1"/>
          </p:cNvSpPr>
          <p:nvPr>
            <p:ph type="title"/>
          </p:nvPr>
        </p:nvSpPr>
        <p:spPr>
          <a:xfrm>
            <a:off x="713225" y="2998800"/>
            <a:ext cx="6227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cyber security?</a:t>
            </a:r>
            <a:endParaRPr dirty="0"/>
          </a:p>
        </p:txBody>
      </p:sp>
      <p:sp>
        <p:nvSpPr>
          <p:cNvPr id="345" name="Google Shape;345;p50"/>
          <p:cNvSpPr txBox="1">
            <a:spLocks noGrp="1"/>
          </p:cNvSpPr>
          <p:nvPr>
            <p:ph type="title" idx="2"/>
          </p:nvPr>
        </p:nvSpPr>
        <p:spPr>
          <a:xfrm>
            <a:off x="713225" y="1320075"/>
            <a:ext cx="1913100" cy="10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347" name="Google Shape;347;p50"/>
          <p:cNvCxnSpPr/>
          <p:nvPr/>
        </p:nvCxnSpPr>
        <p:spPr>
          <a:xfrm>
            <a:off x="-19500" y="3840600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p50"/>
          <p:cNvSpPr/>
          <p:nvPr/>
        </p:nvSpPr>
        <p:spPr>
          <a:xfrm>
            <a:off x="0" y="1403775"/>
            <a:ext cx="713400" cy="855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50"/>
          <p:cNvSpPr/>
          <p:nvPr/>
        </p:nvSpPr>
        <p:spPr>
          <a:xfrm>
            <a:off x="2626325" y="1403775"/>
            <a:ext cx="6517800" cy="85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F4DA05AA-E251-5605-5C86-CF777985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>
            <a:extLst>
              <a:ext uri="{FF2B5EF4-FFF2-40B4-BE49-F238E27FC236}">
                <a16:creationId xmlns:a16="http://schemas.microsoft.com/office/drawing/2014/main" id="{4C99B231-A4EA-3C3E-2D53-5F32D6812E5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9488" y="1532100"/>
            <a:ext cx="7550738" cy="20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sz="1800" dirty="0"/>
              <a:t>Cybersecurity is the practice of protecting systems, networks, and programs from digital attacks. These </a:t>
            </a:r>
            <a:r>
              <a:rPr lang="en-US" sz="1800" u="sng" dirty="0">
                <a:hlinkClick r:id="rId3"/>
              </a:rPr>
              <a:t>cyberattacks</a:t>
            </a:r>
            <a:r>
              <a:rPr lang="en-US" sz="1800" dirty="0"/>
              <a:t> are usually aimed at accessing, changing, or destroying sensitive information; extorting money from users through </a:t>
            </a:r>
            <a:r>
              <a:rPr lang="en-US" sz="1800" u="sng" dirty="0">
                <a:hlinkClick r:id="rId4"/>
              </a:rPr>
              <a:t>ransomware</a:t>
            </a:r>
            <a:r>
              <a:rPr lang="en-US" sz="1800" dirty="0"/>
              <a:t>; or interrupting normal business processes.</a:t>
            </a:r>
          </a:p>
          <a:p>
            <a:br>
              <a:rPr lang="en-US" sz="1800" dirty="0"/>
            </a:br>
            <a:r>
              <a:rPr lang="en-US" dirty="0"/>
              <a:t>                                               -cisco</a:t>
            </a:r>
            <a:endParaRPr dirty="0"/>
          </a:p>
        </p:txBody>
      </p:sp>
      <p:cxnSp>
        <p:nvCxnSpPr>
          <p:cNvPr id="395" name="Google Shape;395;p53">
            <a:extLst>
              <a:ext uri="{FF2B5EF4-FFF2-40B4-BE49-F238E27FC236}">
                <a16:creationId xmlns:a16="http://schemas.microsoft.com/office/drawing/2014/main" id="{E21FECF4-3CAB-EDF2-6361-2F2F300ABA1B}"/>
              </a:ext>
            </a:extLst>
          </p:cNvPr>
          <p:cNvCxnSpPr/>
          <p:nvPr/>
        </p:nvCxnSpPr>
        <p:spPr>
          <a:xfrm>
            <a:off x="-19500" y="1152025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6" name="Google Shape;396;p53">
            <a:extLst>
              <a:ext uri="{FF2B5EF4-FFF2-40B4-BE49-F238E27FC236}">
                <a16:creationId xmlns:a16="http://schemas.microsoft.com/office/drawing/2014/main" id="{1BE47FF0-EA75-BC4D-CA62-8EA77E696F82}"/>
              </a:ext>
            </a:extLst>
          </p:cNvPr>
          <p:cNvSpPr/>
          <p:nvPr/>
        </p:nvSpPr>
        <p:spPr>
          <a:xfrm flipH="1">
            <a:off x="0" y="1285696"/>
            <a:ext cx="9144000" cy="8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940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95885880-2208-7AF8-D638-8779A101C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>
            <a:extLst>
              <a:ext uri="{FF2B5EF4-FFF2-40B4-BE49-F238E27FC236}">
                <a16:creationId xmlns:a16="http://schemas.microsoft.com/office/drawing/2014/main" id="{15A1A45E-16A9-2510-6092-95DB853D1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998800"/>
            <a:ext cx="6227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Job market</a:t>
            </a:r>
            <a:endParaRPr dirty="0"/>
          </a:p>
        </p:txBody>
      </p:sp>
      <p:sp>
        <p:nvSpPr>
          <p:cNvPr id="345" name="Google Shape;345;p50">
            <a:extLst>
              <a:ext uri="{FF2B5EF4-FFF2-40B4-BE49-F238E27FC236}">
                <a16:creationId xmlns:a16="http://schemas.microsoft.com/office/drawing/2014/main" id="{CF25FA93-1421-A962-C2CC-8C71B500B01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320075"/>
            <a:ext cx="1913100" cy="10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347" name="Google Shape;347;p50">
            <a:extLst>
              <a:ext uri="{FF2B5EF4-FFF2-40B4-BE49-F238E27FC236}">
                <a16:creationId xmlns:a16="http://schemas.microsoft.com/office/drawing/2014/main" id="{930C2B45-AEA5-4A6C-D166-F65A53EC446D}"/>
              </a:ext>
            </a:extLst>
          </p:cNvPr>
          <p:cNvCxnSpPr/>
          <p:nvPr/>
        </p:nvCxnSpPr>
        <p:spPr>
          <a:xfrm>
            <a:off x="-19500" y="3840600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p50">
            <a:extLst>
              <a:ext uri="{FF2B5EF4-FFF2-40B4-BE49-F238E27FC236}">
                <a16:creationId xmlns:a16="http://schemas.microsoft.com/office/drawing/2014/main" id="{D357B8BB-0647-7CC1-6BEF-C5F23BB84133}"/>
              </a:ext>
            </a:extLst>
          </p:cNvPr>
          <p:cNvSpPr/>
          <p:nvPr/>
        </p:nvSpPr>
        <p:spPr>
          <a:xfrm>
            <a:off x="0" y="1403775"/>
            <a:ext cx="713400" cy="855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50">
            <a:extLst>
              <a:ext uri="{FF2B5EF4-FFF2-40B4-BE49-F238E27FC236}">
                <a16:creationId xmlns:a16="http://schemas.microsoft.com/office/drawing/2014/main" id="{651112F8-492C-91D4-0F13-667ADC64F176}"/>
              </a:ext>
            </a:extLst>
          </p:cNvPr>
          <p:cNvSpPr/>
          <p:nvPr/>
        </p:nvSpPr>
        <p:spPr>
          <a:xfrm>
            <a:off x="2626325" y="1403775"/>
            <a:ext cx="6517800" cy="85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2"/>
          <p:cNvSpPr txBox="1">
            <a:spLocks noGrp="1"/>
          </p:cNvSpPr>
          <p:nvPr>
            <p:ph type="title"/>
          </p:nvPr>
        </p:nvSpPr>
        <p:spPr>
          <a:xfrm>
            <a:off x="1632550" y="780120"/>
            <a:ext cx="6175776" cy="6155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Roles</a:t>
            </a:r>
            <a:endParaRPr dirty="0"/>
          </a:p>
        </p:txBody>
      </p:sp>
      <p:sp>
        <p:nvSpPr>
          <p:cNvPr id="384" name="Google Shape;384;p52"/>
          <p:cNvSpPr txBox="1">
            <a:spLocks noGrp="1"/>
          </p:cNvSpPr>
          <p:nvPr>
            <p:ph type="subTitle" idx="2"/>
          </p:nvPr>
        </p:nvSpPr>
        <p:spPr>
          <a:xfrm>
            <a:off x="861600" y="1581797"/>
            <a:ext cx="3710400" cy="2426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Cyber security engineer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Cyber security analyst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Network security engineer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Security application developer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White hat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Penetration testing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Forensics investigator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SOC engineer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cxnSp>
        <p:nvCxnSpPr>
          <p:cNvPr id="386" name="Google Shape;386;p52"/>
          <p:cNvCxnSpPr/>
          <p:nvPr/>
        </p:nvCxnSpPr>
        <p:spPr>
          <a:xfrm>
            <a:off x="-19500" y="593982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p52"/>
          <p:cNvSpPr/>
          <p:nvPr/>
        </p:nvSpPr>
        <p:spPr>
          <a:xfrm flipH="1">
            <a:off x="0" y="436604"/>
            <a:ext cx="9144000" cy="8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84;p52">
            <a:extLst>
              <a:ext uri="{FF2B5EF4-FFF2-40B4-BE49-F238E27FC236}">
                <a16:creationId xmlns:a16="http://schemas.microsoft.com/office/drawing/2014/main" id="{9E3B3156-1A94-EE3D-D6AD-A282BDBF0ACB}"/>
              </a:ext>
            </a:extLst>
          </p:cNvPr>
          <p:cNvSpPr txBox="1">
            <a:spLocks/>
          </p:cNvSpPr>
          <p:nvPr/>
        </p:nvSpPr>
        <p:spPr>
          <a:xfrm>
            <a:off x="4720438" y="1581796"/>
            <a:ext cx="3710400" cy="242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342900" indent="-342900" algn="l">
              <a:buFont typeface="Roboto Condensed"/>
              <a:buAutoNum type="arabicPeriod"/>
            </a:pPr>
            <a:r>
              <a:rPr lang="en-US" dirty="0"/>
              <a:t>CISSP,  Cisco (CCNP),  CompTIA (CASP+),  CompTIA (</a:t>
            </a:r>
            <a:r>
              <a:rPr lang="en-US" dirty="0" err="1"/>
              <a:t>CySA</a:t>
            </a:r>
            <a:r>
              <a:rPr lang="en-US" dirty="0"/>
              <a:t>+) </a:t>
            </a:r>
          </a:p>
          <a:p>
            <a:pPr marL="342900" indent="-342900" algn="l">
              <a:buFont typeface="Roboto Condensed"/>
              <a:buAutoNum type="arabicPeriod"/>
            </a:pPr>
            <a:r>
              <a:rPr lang="en-US" dirty="0"/>
              <a:t>CompTIA Network+, CompTIA Security+, CompTIA </a:t>
            </a:r>
            <a:r>
              <a:rPr lang="en-US" dirty="0" err="1"/>
              <a:t>PenTest</a:t>
            </a:r>
            <a:r>
              <a:rPr lang="en-US" dirty="0"/>
              <a:t>+, </a:t>
            </a:r>
            <a:r>
              <a:rPr lang="en-US" dirty="0" err="1"/>
              <a:t>CySA</a:t>
            </a:r>
            <a:r>
              <a:rPr lang="en-US" dirty="0"/>
              <a:t>+, CISSP</a:t>
            </a:r>
          </a:p>
          <a:p>
            <a:pPr marL="342900" indent="-342900" algn="l">
              <a:buFont typeface="Roboto Condensed"/>
              <a:buAutoNum type="arabicPeriod"/>
            </a:pPr>
            <a:r>
              <a:rPr lang="en-US" dirty="0"/>
              <a:t>CompTIA Network+, ISC2, GIAC,  (NSE) 7</a:t>
            </a:r>
          </a:p>
          <a:p>
            <a:pPr marL="342900" indent="-342900" algn="l">
              <a:buFont typeface="Roboto Condensed"/>
              <a:buAutoNum type="arabicPeriod"/>
            </a:pPr>
            <a:r>
              <a:rPr lang="en-US" dirty="0"/>
              <a:t>Microsoft Azure</a:t>
            </a:r>
          </a:p>
          <a:p>
            <a:pPr marL="342900" indent="-342900" algn="l">
              <a:buFont typeface="Roboto Condensed"/>
              <a:buAutoNum type="arabicPeriod"/>
            </a:pPr>
            <a:r>
              <a:rPr lang="en-US" dirty="0"/>
              <a:t>PEN-200, GIAC,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Salaries</a:t>
            </a:r>
          </a:p>
        </p:txBody>
      </p:sp>
      <p:cxnSp>
        <p:nvCxnSpPr>
          <p:cNvPr id="395" name="Google Shape;395;p53"/>
          <p:cNvCxnSpPr/>
          <p:nvPr/>
        </p:nvCxnSpPr>
        <p:spPr>
          <a:xfrm>
            <a:off x="-19500" y="1152025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6" name="Google Shape;396;p53"/>
          <p:cNvSpPr/>
          <p:nvPr/>
        </p:nvSpPr>
        <p:spPr>
          <a:xfrm flipH="1">
            <a:off x="-19500" y="1174948"/>
            <a:ext cx="9144000" cy="8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5B771C-C012-0FE0-CDDA-BBC9A724C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782" y="1285696"/>
            <a:ext cx="4427272" cy="33870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C76B415F-20CC-21B2-1AF2-6EE281A5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3">
            <a:extLst>
              <a:ext uri="{FF2B5EF4-FFF2-40B4-BE49-F238E27FC236}">
                <a16:creationId xmlns:a16="http://schemas.microsoft.com/office/drawing/2014/main" id="{11A3B0CF-9BEC-312A-1C0B-FA10BF25B1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Salaries</a:t>
            </a:r>
          </a:p>
        </p:txBody>
      </p:sp>
      <p:cxnSp>
        <p:nvCxnSpPr>
          <p:cNvPr id="395" name="Google Shape;395;p53">
            <a:extLst>
              <a:ext uri="{FF2B5EF4-FFF2-40B4-BE49-F238E27FC236}">
                <a16:creationId xmlns:a16="http://schemas.microsoft.com/office/drawing/2014/main" id="{F3B74F8B-D9C7-DC1F-40B0-D1D4C0134D4C}"/>
              </a:ext>
            </a:extLst>
          </p:cNvPr>
          <p:cNvCxnSpPr/>
          <p:nvPr/>
        </p:nvCxnSpPr>
        <p:spPr>
          <a:xfrm>
            <a:off x="-19500" y="1152025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6" name="Google Shape;396;p53">
            <a:extLst>
              <a:ext uri="{FF2B5EF4-FFF2-40B4-BE49-F238E27FC236}">
                <a16:creationId xmlns:a16="http://schemas.microsoft.com/office/drawing/2014/main" id="{C7D8E314-C0B2-BDA8-A762-0C157B244965}"/>
              </a:ext>
            </a:extLst>
          </p:cNvPr>
          <p:cNvSpPr/>
          <p:nvPr/>
        </p:nvSpPr>
        <p:spPr>
          <a:xfrm flipH="1">
            <a:off x="-19500" y="1174948"/>
            <a:ext cx="9144000" cy="8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04FB9A-2B1D-AD1E-0AD2-0626C6CFA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6673"/>
            <a:ext cx="9144000" cy="21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14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89F28CF8-A3B2-5666-0095-03BAC5E5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>
            <a:extLst>
              <a:ext uri="{FF2B5EF4-FFF2-40B4-BE49-F238E27FC236}">
                <a16:creationId xmlns:a16="http://schemas.microsoft.com/office/drawing/2014/main" id="{4A53499F-DFBB-6833-4828-F82B394B34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998800"/>
            <a:ext cx="6227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Tracks</a:t>
            </a:r>
            <a:endParaRPr dirty="0"/>
          </a:p>
        </p:txBody>
      </p:sp>
      <p:sp>
        <p:nvSpPr>
          <p:cNvPr id="345" name="Google Shape;345;p50">
            <a:extLst>
              <a:ext uri="{FF2B5EF4-FFF2-40B4-BE49-F238E27FC236}">
                <a16:creationId xmlns:a16="http://schemas.microsoft.com/office/drawing/2014/main" id="{3F573137-5064-0165-A2DA-907DD8FC8E9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320075"/>
            <a:ext cx="1913100" cy="10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347" name="Google Shape;347;p50">
            <a:extLst>
              <a:ext uri="{FF2B5EF4-FFF2-40B4-BE49-F238E27FC236}">
                <a16:creationId xmlns:a16="http://schemas.microsoft.com/office/drawing/2014/main" id="{0014D6D3-C2EB-A63C-363C-184238312643}"/>
              </a:ext>
            </a:extLst>
          </p:cNvPr>
          <p:cNvCxnSpPr/>
          <p:nvPr/>
        </p:nvCxnSpPr>
        <p:spPr>
          <a:xfrm>
            <a:off x="-19500" y="3840600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p50">
            <a:extLst>
              <a:ext uri="{FF2B5EF4-FFF2-40B4-BE49-F238E27FC236}">
                <a16:creationId xmlns:a16="http://schemas.microsoft.com/office/drawing/2014/main" id="{81EBCAA2-7B18-F851-2794-57BB2311A786}"/>
              </a:ext>
            </a:extLst>
          </p:cNvPr>
          <p:cNvSpPr/>
          <p:nvPr/>
        </p:nvSpPr>
        <p:spPr>
          <a:xfrm>
            <a:off x="0" y="1403775"/>
            <a:ext cx="713400" cy="855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50">
            <a:extLst>
              <a:ext uri="{FF2B5EF4-FFF2-40B4-BE49-F238E27FC236}">
                <a16:creationId xmlns:a16="http://schemas.microsoft.com/office/drawing/2014/main" id="{378742E7-7759-1F10-0DA4-958ABF0CAE75}"/>
              </a:ext>
            </a:extLst>
          </p:cNvPr>
          <p:cNvSpPr/>
          <p:nvPr/>
        </p:nvSpPr>
        <p:spPr>
          <a:xfrm>
            <a:off x="2626325" y="1403775"/>
            <a:ext cx="6517800" cy="85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301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>
          <a:extLst>
            <a:ext uri="{FF2B5EF4-FFF2-40B4-BE49-F238E27FC236}">
              <a16:creationId xmlns:a16="http://schemas.microsoft.com/office/drawing/2014/main" id="{A6C1FC08-59F3-2B8E-7254-0E950A5A5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2">
            <a:extLst>
              <a:ext uri="{FF2B5EF4-FFF2-40B4-BE49-F238E27FC236}">
                <a16:creationId xmlns:a16="http://schemas.microsoft.com/office/drawing/2014/main" id="{CBC99261-BD06-1C06-390C-543DB151E4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32550" y="780120"/>
            <a:ext cx="6175776" cy="6155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Teams</a:t>
            </a:r>
            <a:endParaRPr dirty="0"/>
          </a:p>
        </p:txBody>
      </p:sp>
      <p:sp>
        <p:nvSpPr>
          <p:cNvPr id="384" name="Google Shape;384;p52">
            <a:extLst>
              <a:ext uri="{FF2B5EF4-FFF2-40B4-BE49-F238E27FC236}">
                <a16:creationId xmlns:a16="http://schemas.microsoft.com/office/drawing/2014/main" id="{F40E9B78-EB23-1D70-F3DD-06807CFB6C7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61600" y="1423665"/>
            <a:ext cx="3710400" cy="2426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b="1" dirty="0"/>
              <a:t>Red Team: The Attackers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Identifying and Mitigating Vulnerabilities: By uncovering weaknesses, Red Teams help organizations address security gaps before real attackers can exploit them.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Enhancing Incident Response: They provide critical insights into how an organization might be attacked, improving the effectiveness of incident response strategies.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Comprehensive Reports: Red Teams deliver detailed reports that include findings, impact assessments, and actionable recommendations for strengthening security measures.</a:t>
            </a:r>
          </a:p>
        </p:txBody>
      </p:sp>
      <p:cxnSp>
        <p:nvCxnSpPr>
          <p:cNvPr id="386" name="Google Shape;386;p52">
            <a:extLst>
              <a:ext uri="{FF2B5EF4-FFF2-40B4-BE49-F238E27FC236}">
                <a16:creationId xmlns:a16="http://schemas.microsoft.com/office/drawing/2014/main" id="{FA52B96F-8947-DB9B-BDBE-D4C84375C8D9}"/>
              </a:ext>
            </a:extLst>
          </p:cNvPr>
          <p:cNvCxnSpPr/>
          <p:nvPr/>
        </p:nvCxnSpPr>
        <p:spPr>
          <a:xfrm>
            <a:off x="-19500" y="593982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p52">
            <a:extLst>
              <a:ext uri="{FF2B5EF4-FFF2-40B4-BE49-F238E27FC236}">
                <a16:creationId xmlns:a16="http://schemas.microsoft.com/office/drawing/2014/main" id="{E7B37F99-F605-9884-C576-646351223DE1}"/>
              </a:ext>
            </a:extLst>
          </p:cNvPr>
          <p:cNvSpPr/>
          <p:nvPr/>
        </p:nvSpPr>
        <p:spPr>
          <a:xfrm flipH="1">
            <a:off x="0" y="436604"/>
            <a:ext cx="9144000" cy="8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84;p52">
            <a:extLst>
              <a:ext uri="{FF2B5EF4-FFF2-40B4-BE49-F238E27FC236}">
                <a16:creationId xmlns:a16="http://schemas.microsoft.com/office/drawing/2014/main" id="{7FE9CF26-0AD1-A8C4-7DCD-01713DF543BD}"/>
              </a:ext>
            </a:extLst>
          </p:cNvPr>
          <p:cNvSpPr txBox="1">
            <a:spLocks/>
          </p:cNvSpPr>
          <p:nvPr/>
        </p:nvSpPr>
        <p:spPr>
          <a:xfrm>
            <a:off x="4720438" y="1423665"/>
            <a:ext cx="3626040" cy="2536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algn="l"/>
            <a:r>
              <a:rPr lang="en-US" b="1" dirty="0"/>
              <a:t>Blue Team: The Defenders </a:t>
            </a:r>
          </a:p>
          <a:p>
            <a:pPr algn="l"/>
            <a:r>
              <a:rPr lang="en-US" dirty="0"/>
              <a:t>Monitoring and Detection: Blue Teams use</a:t>
            </a:r>
          </a:p>
          <a:p>
            <a:pPr algn="l"/>
            <a:r>
              <a:rPr lang="en-US" dirty="0"/>
              <a:t>advanced tools such as Security Information</a:t>
            </a:r>
          </a:p>
          <a:p>
            <a:pPr algn="l"/>
            <a:r>
              <a:rPr lang="en-US" dirty="0"/>
              <a:t>and Event Management (SIEM) systems to</a:t>
            </a:r>
          </a:p>
          <a:p>
            <a:pPr algn="l"/>
            <a:r>
              <a:rPr lang="en-US" dirty="0"/>
              <a:t>continuously monitor network traffic and</a:t>
            </a:r>
          </a:p>
          <a:p>
            <a:pPr algn="l"/>
            <a:r>
              <a:rPr lang="en-US" dirty="0"/>
              <a:t>system activity for anomalies and potential</a:t>
            </a:r>
          </a:p>
          <a:p>
            <a:pPr algn="l"/>
            <a:r>
              <a:rPr lang="en-US" dirty="0"/>
              <a:t>threats.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Incident Response: They are on the frontline of</a:t>
            </a:r>
          </a:p>
          <a:p>
            <a:pPr algn="l"/>
            <a:r>
              <a:rPr lang="en-US" dirty="0"/>
              <a:t>defense, responding to real-time security</a:t>
            </a:r>
          </a:p>
          <a:p>
            <a:pPr algn="l"/>
            <a:r>
              <a:rPr lang="en-US" dirty="0"/>
              <a:t>incidents. This involves identifying the scope</a:t>
            </a:r>
          </a:p>
          <a:p>
            <a:pPr algn="l"/>
            <a:r>
              <a:rPr lang="en-US" dirty="0"/>
              <a:t>of an attack, containing the threat, eradicating</a:t>
            </a:r>
          </a:p>
          <a:p>
            <a:pPr algn="l"/>
            <a:r>
              <a:rPr lang="en-US" dirty="0"/>
              <a:t>malicious activity, and recovering affected</a:t>
            </a:r>
          </a:p>
          <a:p>
            <a:pPr algn="l"/>
            <a:r>
              <a:rPr lang="en-US" dirty="0"/>
              <a:t>systems.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291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>
          <a:extLst>
            <a:ext uri="{FF2B5EF4-FFF2-40B4-BE49-F238E27FC236}">
              <a16:creationId xmlns:a16="http://schemas.microsoft.com/office/drawing/2014/main" id="{62269B07-FB63-13A5-6CAA-FCBCB8E9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2">
            <a:extLst>
              <a:ext uri="{FF2B5EF4-FFF2-40B4-BE49-F238E27FC236}">
                <a16:creationId xmlns:a16="http://schemas.microsoft.com/office/drawing/2014/main" id="{ADCEF069-3686-7CC9-A165-A896E3FD2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32550" y="780120"/>
            <a:ext cx="6175776" cy="6155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Teams</a:t>
            </a:r>
            <a:endParaRPr dirty="0"/>
          </a:p>
        </p:txBody>
      </p:sp>
      <p:sp>
        <p:nvSpPr>
          <p:cNvPr id="384" name="Google Shape;384;p52">
            <a:extLst>
              <a:ext uri="{FF2B5EF4-FFF2-40B4-BE49-F238E27FC236}">
                <a16:creationId xmlns:a16="http://schemas.microsoft.com/office/drawing/2014/main" id="{BAFED612-9208-F946-3F16-3D2A4DB3ACC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61600" y="1361786"/>
            <a:ext cx="3710400" cy="2426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b="1" dirty="0"/>
              <a:t>Purple Team: The Collaborators</a:t>
            </a:r>
          </a:p>
          <a:p>
            <a:pPr marL="0" indent="0" algn="l"/>
            <a:r>
              <a:rPr lang="en-US" dirty="0"/>
              <a:t>Knowledge Sharing: Purple Teams facilitate the exchange of information between Red and Blue Teams, ensuring that both sides understand each other’s methodologies and findings.</a:t>
            </a:r>
          </a:p>
          <a:p>
            <a:pPr marL="0" indent="0" algn="l"/>
            <a:endParaRPr lang="en-US" dirty="0"/>
          </a:p>
          <a:p>
            <a:pPr marL="0" indent="0" algn="l"/>
            <a:r>
              <a:rPr lang="en-US" dirty="0"/>
              <a:t>Joint Exercises: They conduct collaborative security drills and exercises, where Red and Blue Teams work together to test and improve security measures.</a:t>
            </a:r>
          </a:p>
          <a:p>
            <a:pPr marL="0" indent="0" algn="l"/>
            <a:endParaRPr lang="en-US" dirty="0"/>
          </a:p>
          <a:p>
            <a:pPr marL="0" indent="0" algn="l"/>
            <a:r>
              <a:rPr lang="en-US" dirty="0"/>
              <a:t>Continuous Improvement: Purple Teams are focused on implementing strategies that continuously enhance the organization’s defenses, using feedback from both offensive and defensive operations.</a:t>
            </a:r>
          </a:p>
        </p:txBody>
      </p:sp>
      <p:cxnSp>
        <p:nvCxnSpPr>
          <p:cNvPr id="386" name="Google Shape;386;p52">
            <a:extLst>
              <a:ext uri="{FF2B5EF4-FFF2-40B4-BE49-F238E27FC236}">
                <a16:creationId xmlns:a16="http://schemas.microsoft.com/office/drawing/2014/main" id="{EE6FEFF8-6BDC-F396-290E-F4DE97CE2025}"/>
              </a:ext>
            </a:extLst>
          </p:cNvPr>
          <p:cNvCxnSpPr/>
          <p:nvPr/>
        </p:nvCxnSpPr>
        <p:spPr>
          <a:xfrm>
            <a:off x="-19500" y="593982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p52">
            <a:extLst>
              <a:ext uri="{FF2B5EF4-FFF2-40B4-BE49-F238E27FC236}">
                <a16:creationId xmlns:a16="http://schemas.microsoft.com/office/drawing/2014/main" id="{090CB5A0-F0B3-535A-1BC0-18B1D075EB86}"/>
              </a:ext>
            </a:extLst>
          </p:cNvPr>
          <p:cNvSpPr/>
          <p:nvPr/>
        </p:nvSpPr>
        <p:spPr>
          <a:xfrm flipH="1">
            <a:off x="0" y="436604"/>
            <a:ext cx="9144000" cy="8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84;p52">
            <a:extLst>
              <a:ext uri="{FF2B5EF4-FFF2-40B4-BE49-F238E27FC236}">
                <a16:creationId xmlns:a16="http://schemas.microsoft.com/office/drawing/2014/main" id="{64A6ABB9-B006-49B8-837C-166E5EDE9441}"/>
              </a:ext>
            </a:extLst>
          </p:cNvPr>
          <p:cNvSpPr txBox="1">
            <a:spLocks/>
          </p:cNvSpPr>
          <p:nvPr/>
        </p:nvSpPr>
        <p:spPr>
          <a:xfrm>
            <a:off x="4720438" y="1395661"/>
            <a:ext cx="3626040" cy="2536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algn="l"/>
            <a:r>
              <a:rPr lang="en-US" b="1" dirty="0"/>
              <a:t>Yellow Team: The Builders</a:t>
            </a:r>
          </a:p>
          <a:p>
            <a:pPr algn="l"/>
            <a:r>
              <a:rPr lang="en-US" dirty="0"/>
              <a:t>Software Development: Yellow Teams create</a:t>
            </a:r>
          </a:p>
          <a:p>
            <a:pPr algn="l"/>
            <a:r>
              <a:rPr lang="en-US" dirty="0"/>
              <a:t>secure applications by following best practices</a:t>
            </a:r>
          </a:p>
          <a:p>
            <a:pPr algn="l"/>
            <a:r>
              <a:rPr lang="en-US" dirty="0"/>
              <a:t>in secure coding and software development.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Collaboration with Red and Blue Teams: They</a:t>
            </a:r>
          </a:p>
          <a:p>
            <a:pPr algn="l"/>
            <a:r>
              <a:rPr lang="en-US" dirty="0"/>
              <a:t>use insights from Red Team assessments and</a:t>
            </a:r>
          </a:p>
          <a:p>
            <a:pPr algn="l"/>
            <a:r>
              <a:rPr lang="en-US" dirty="0"/>
              <a:t>Blue Team defenses to improve the security</a:t>
            </a:r>
          </a:p>
          <a:p>
            <a:pPr algn="l"/>
            <a:r>
              <a:rPr lang="en-US" dirty="0"/>
              <a:t>features of software and applications.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Security Feature Enhancement: Yellow Teams</a:t>
            </a:r>
          </a:p>
          <a:p>
            <a:pPr algn="l"/>
            <a:r>
              <a:rPr lang="en-US" dirty="0"/>
              <a:t>continuously work on integrating advanced</a:t>
            </a:r>
          </a:p>
          <a:p>
            <a:pPr algn="l"/>
            <a:r>
              <a:rPr lang="en-US" dirty="0"/>
              <a:t>security measures into software products to</a:t>
            </a:r>
          </a:p>
          <a:p>
            <a:pPr algn="l"/>
            <a:r>
              <a:rPr lang="en-US" dirty="0"/>
              <a:t>prevent vulnerabilities.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170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>
          <a:extLst>
            <a:ext uri="{FF2B5EF4-FFF2-40B4-BE49-F238E27FC236}">
              <a16:creationId xmlns:a16="http://schemas.microsoft.com/office/drawing/2014/main" id="{90E7324B-8034-8C52-FC66-170B81416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2">
            <a:extLst>
              <a:ext uri="{FF2B5EF4-FFF2-40B4-BE49-F238E27FC236}">
                <a16:creationId xmlns:a16="http://schemas.microsoft.com/office/drawing/2014/main" id="{A39F649C-4285-8D0D-3A27-D309D6D231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32550" y="780120"/>
            <a:ext cx="6175776" cy="6155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Teams</a:t>
            </a:r>
            <a:endParaRPr dirty="0"/>
          </a:p>
        </p:txBody>
      </p:sp>
      <p:sp>
        <p:nvSpPr>
          <p:cNvPr id="384" name="Google Shape;384;p52">
            <a:extLst>
              <a:ext uri="{FF2B5EF4-FFF2-40B4-BE49-F238E27FC236}">
                <a16:creationId xmlns:a16="http://schemas.microsoft.com/office/drawing/2014/main" id="{9D13BA29-F3A5-046F-3AA4-01374CBCB7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61600" y="1361786"/>
            <a:ext cx="3710400" cy="24264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b="1" dirty="0"/>
              <a:t>Orange Team: Facilitating Interaction and Education</a:t>
            </a:r>
          </a:p>
          <a:p>
            <a:pPr algn="l"/>
            <a:r>
              <a:rPr lang="en-US" dirty="0"/>
              <a:t>Educating Developers: Orange Teams share</a:t>
            </a:r>
          </a:p>
          <a:p>
            <a:pPr algn="l"/>
            <a:r>
              <a:rPr lang="en-US" dirty="0"/>
              <a:t>knowledge and insights from attack simulations</a:t>
            </a:r>
          </a:p>
          <a:p>
            <a:pPr algn="l"/>
            <a:r>
              <a:rPr lang="en-US" dirty="0"/>
              <a:t>to help developers understand potential</a:t>
            </a:r>
          </a:p>
          <a:p>
            <a:pPr algn="l"/>
            <a:r>
              <a:rPr lang="en-US" dirty="0"/>
              <a:t>vulnerabilities.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Improving Security Practices: They guide</a:t>
            </a:r>
          </a:p>
          <a:p>
            <a:pPr algn="l"/>
            <a:r>
              <a:rPr lang="en-US" dirty="0"/>
              <a:t>developers in adopting secure coding practices</a:t>
            </a:r>
          </a:p>
          <a:p>
            <a:pPr algn="l"/>
            <a:r>
              <a:rPr lang="en-US" dirty="0"/>
              <a:t>and implementing robust security measures.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Ensuring Application Security: Orange Teams</a:t>
            </a:r>
          </a:p>
          <a:p>
            <a:pPr algn="l"/>
            <a:r>
              <a:rPr lang="en-US" dirty="0"/>
              <a:t>assist in creating secure, bug-free software by</a:t>
            </a:r>
          </a:p>
          <a:p>
            <a:pPr algn="l"/>
            <a:r>
              <a:rPr lang="en-US" dirty="0"/>
              <a:t>incorporating security considerations into the</a:t>
            </a:r>
          </a:p>
          <a:p>
            <a:pPr algn="l"/>
            <a:r>
              <a:rPr lang="en-US" dirty="0"/>
              <a:t>development lifecycle.</a:t>
            </a:r>
          </a:p>
        </p:txBody>
      </p:sp>
      <p:cxnSp>
        <p:nvCxnSpPr>
          <p:cNvPr id="386" name="Google Shape;386;p52">
            <a:extLst>
              <a:ext uri="{FF2B5EF4-FFF2-40B4-BE49-F238E27FC236}">
                <a16:creationId xmlns:a16="http://schemas.microsoft.com/office/drawing/2014/main" id="{81D4B5B8-CA12-5932-DB17-08761BCD0A2B}"/>
              </a:ext>
            </a:extLst>
          </p:cNvPr>
          <p:cNvCxnSpPr/>
          <p:nvPr/>
        </p:nvCxnSpPr>
        <p:spPr>
          <a:xfrm>
            <a:off x="-19500" y="593982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p52">
            <a:extLst>
              <a:ext uri="{FF2B5EF4-FFF2-40B4-BE49-F238E27FC236}">
                <a16:creationId xmlns:a16="http://schemas.microsoft.com/office/drawing/2014/main" id="{CBF624DA-5F18-D413-245D-752014C0391B}"/>
              </a:ext>
            </a:extLst>
          </p:cNvPr>
          <p:cNvSpPr/>
          <p:nvPr/>
        </p:nvSpPr>
        <p:spPr>
          <a:xfrm flipH="1">
            <a:off x="0" y="436604"/>
            <a:ext cx="9144000" cy="8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84;p52">
            <a:extLst>
              <a:ext uri="{FF2B5EF4-FFF2-40B4-BE49-F238E27FC236}">
                <a16:creationId xmlns:a16="http://schemas.microsoft.com/office/drawing/2014/main" id="{3EFEC282-B4ED-D5D5-479C-8DB33D388FB0}"/>
              </a:ext>
            </a:extLst>
          </p:cNvPr>
          <p:cNvSpPr txBox="1">
            <a:spLocks/>
          </p:cNvSpPr>
          <p:nvPr/>
        </p:nvSpPr>
        <p:spPr>
          <a:xfrm>
            <a:off x="4720438" y="1395661"/>
            <a:ext cx="3626040" cy="2536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algn="l"/>
            <a:r>
              <a:rPr lang="en-US" b="1" dirty="0"/>
              <a:t>Green Team: Enhancing Security Automation with Design and Code</a:t>
            </a:r>
          </a:p>
          <a:p>
            <a:pPr algn="l"/>
            <a:r>
              <a:rPr lang="en-US" dirty="0"/>
              <a:t>Secure Software Development: Green Teams</a:t>
            </a:r>
          </a:p>
          <a:p>
            <a:pPr algn="l"/>
            <a:r>
              <a:rPr lang="en-US" dirty="0"/>
              <a:t>implement secure coding practices to prevent</a:t>
            </a:r>
          </a:p>
          <a:p>
            <a:pPr algn="l"/>
            <a:r>
              <a:rPr lang="en-US" dirty="0"/>
              <a:t>vulnerabilities during development.</a:t>
            </a:r>
          </a:p>
          <a:p>
            <a:pPr algn="l"/>
            <a:endParaRPr lang="en-US" dirty="0"/>
          </a:p>
          <a:p>
            <a:pPr algn="l"/>
            <a:r>
              <a:rPr lang="en-US" dirty="0" err="1"/>
              <a:t>DevSecOps</a:t>
            </a:r>
            <a:r>
              <a:rPr lang="en-US" dirty="0"/>
              <a:t> Integration: They integrate security</a:t>
            </a:r>
          </a:p>
          <a:p>
            <a:pPr algn="l"/>
            <a:r>
              <a:rPr lang="en-US" dirty="0"/>
              <a:t>into DevOps workflows, ensuring continuous</a:t>
            </a:r>
          </a:p>
          <a:p>
            <a:pPr algn="l"/>
            <a:r>
              <a:rPr lang="en-US" dirty="0"/>
              <a:t>security assessment and automation.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Policy Development: Green Teams develop and</a:t>
            </a:r>
          </a:p>
          <a:p>
            <a:pPr algn="l"/>
            <a:r>
              <a:rPr lang="en-US" dirty="0"/>
              <a:t>enforce security policies and procedures to</a:t>
            </a:r>
          </a:p>
          <a:p>
            <a:pPr algn="l"/>
            <a:r>
              <a:rPr lang="en-US" dirty="0"/>
              <a:t>maintain a secure development environment.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835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4FDE09D4-2D7B-02C5-EA7E-37B3231E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55">
            <a:extLst>
              <a:ext uri="{FF2B5EF4-FFF2-40B4-BE49-F238E27FC236}">
                <a16:creationId xmlns:a16="http://schemas.microsoft.com/office/drawing/2014/main" id="{EDDADF4C-9241-80A3-BD77-A954B6056B09}"/>
              </a:ext>
            </a:extLst>
          </p:cNvPr>
          <p:cNvGrpSpPr/>
          <p:nvPr/>
        </p:nvGrpSpPr>
        <p:grpSpPr>
          <a:xfrm flipH="1">
            <a:off x="0" y="1403775"/>
            <a:ext cx="9144125" cy="855300"/>
            <a:chOff x="0" y="1403775"/>
            <a:chExt cx="9144125" cy="855300"/>
          </a:xfrm>
        </p:grpSpPr>
        <p:sp>
          <p:nvSpPr>
            <p:cNvPr id="409" name="Google Shape;409;p55">
              <a:extLst>
                <a:ext uri="{FF2B5EF4-FFF2-40B4-BE49-F238E27FC236}">
                  <a16:creationId xmlns:a16="http://schemas.microsoft.com/office/drawing/2014/main" id="{AA18DE3C-3CB0-0F40-AEC5-56BF492A5271}"/>
                </a:ext>
              </a:extLst>
            </p:cNvPr>
            <p:cNvSpPr/>
            <p:nvPr/>
          </p:nvSpPr>
          <p:spPr>
            <a:xfrm>
              <a:off x="0" y="1403775"/>
              <a:ext cx="713400" cy="8553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5">
              <a:extLst>
                <a:ext uri="{FF2B5EF4-FFF2-40B4-BE49-F238E27FC236}">
                  <a16:creationId xmlns:a16="http://schemas.microsoft.com/office/drawing/2014/main" id="{1476D416-89BD-E065-A252-05BD9A8A566C}"/>
                </a:ext>
              </a:extLst>
            </p:cNvPr>
            <p:cNvSpPr/>
            <p:nvPr/>
          </p:nvSpPr>
          <p:spPr>
            <a:xfrm>
              <a:off x="2626325" y="1403775"/>
              <a:ext cx="6517800" cy="855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11" name="Google Shape;411;p55">
            <a:extLst>
              <a:ext uri="{FF2B5EF4-FFF2-40B4-BE49-F238E27FC236}">
                <a16:creationId xmlns:a16="http://schemas.microsoft.com/office/drawing/2014/main" id="{E475A20D-45D7-E902-2D37-6AAA4653E5E9}"/>
              </a:ext>
            </a:extLst>
          </p:cNvPr>
          <p:cNvCxnSpPr/>
          <p:nvPr/>
        </p:nvCxnSpPr>
        <p:spPr>
          <a:xfrm>
            <a:off x="-19500" y="3837900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55">
            <a:extLst>
              <a:ext uri="{FF2B5EF4-FFF2-40B4-BE49-F238E27FC236}">
                <a16:creationId xmlns:a16="http://schemas.microsoft.com/office/drawing/2014/main" id="{447AFA08-57E8-DE06-F2DA-49DD9EFA6C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101800" y="2998800"/>
            <a:ext cx="6329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Resources</a:t>
            </a:r>
            <a:endParaRPr dirty="0"/>
          </a:p>
        </p:txBody>
      </p:sp>
      <p:sp>
        <p:nvSpPr>
          <p:cNvPr id="413" name="Google Shape;413;p55">
            <a:extLst>
              <a:ext uri="{FF2B5EF4-FFF2-40B4-BE49-F238E27FC236}">
                <a16:creationId xmlns:a16="http://schemas.microsoft.com/office/drawing/2014/main" id="{1FCDB505-0509-2B87-98BF-A571BF1CEAC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 flipH="1">
            <a:off x="6517800" y="1320075"/>
            <a:ext cx="1913100" cy="10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9160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206CCE73-BE02-18A8-3487-3F689C79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>
            <a:extLst>
              <a:ext uri="{FF2B5EF4-FFF2-40B4-BE49-F238E27FC236}">
                <a16:creationId xmlns:a16="http://schemas.microsoft.com/office/drawing/2014/main" id="{C8F2ED66-49D4-4092-4FB6-BF7DEDB0FB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Newsletters</a:t>
            </a:r>
            <a:endParaRPr dirty="0"/>
          </a:p>
        </p:txBody>
      </p:sp>
      <p:sp>
        <p:nvSpPr>
          <p:cNvPr id="402" name="Google Shape;402;p54">
            <a:extLst>
              <a:ext uri="{FF2B5EF4-FFF2-40B4-BE49-F238E27FC236}">
                <a16:creationId xmlns:a16="http://schemas.microsoft.com/office/drawing/2014/main" id="{C9372E67-FB98-313F-35C6-0BE329BB1E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7591" y="1283088"/>
            <a:ext cx="6753230" cy="22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SzPts val="1100"/>
              <a:buFontTx/>
              <a:buChar char="-"/>
            </a:pPr>
            <a:r>
              <a:rPr lang="en-US" dirty="0">
                <a:hlinkClick r:id="rId3"/>
              </a:rPr>
              <a:t>Krebs on security (weekly)</a:t>
            </a:r>
          </a:p>
          <a:p>
            <a:pPr marL="285750" lvl="0" indent="-285750">
              <a:buSzPts val="1100"/>
              <a:buFontTx/>
              <a:buChar char="-"/>
            </a:pPr>
            <a:endParaRPr lang="en-US" dirty="0">
              <a:hlinkClick r:id="rId3"/>
            </a:endParaRPr>
          </a:p>
          <a:p>
            <a:pPr marL="285750" lvl="0" indent="-285750">
              <a:buSzPts val="1100"/>
              <a:buFontTx/>
              <a:buChar char="-"/>
            </a:pPr>
            <a:r>
              <a:rPr lang="en-US" dirty="0">
                <a:hlinkClick r:id="rId4"/>
              </a:rPr>
              <a:t>SANS </a:t>
            </a:r>
            <a:r>
              <a:rPr lang="en-US" dirty="0" err="1">
                <a:hlinkClick r:id="rId4"/>
              </a:rPr>
              <a:t>newsbites</a:t>
            </a:r>
            <a:r>
              <a:rPr lang="en-US" dirty="0">
                <a:hlinkClick r:id="rId4"/>
              </a:rPr>
              <a:t> </a:t>
            </a:r>
            <a:r>
              <a:rPr lang="en-US" dirty="0"/>
              <a:t> (bi-weekly)</a:t>
            </a:r>
          </a:p>
          <a:p>
            <a:pPr marL="285750" lvl="0" indent="-285750">
              <a:buSzPts val="1100"/>
              <a:buFontTx/>
              <a:buChar char="-"/>
            </a:pPr>
            <a:endParaRPr lang="en-US" dirty="0"/>
          </a:p>
          <a:p>
            <a:pPr marL="285750" lvl="0" indent="-285750">
              <a:buSzPts val="1100"/>
              <a:buFontTx/>
              <a:buChar char="-"/>
            </a:pPr>
            <a:r>
              <a:rPr lang="en-US" dirty="0">
                <a:hlinkClick r:id="rId5"/>
              </a:rPr>
              <a:t>Threats without borders</a:t>
            </a:r>
            <a:r>
              <a:rPr lang="en-US" dirty="0"/>
              <a:t> (weekly)</a:t>
            </a:r>
          </a:p>
          <a:p>
            <a:pPr marL="285750" lvl="0" indent="-285750">
              <a:buSzPts val="1100"/>
              <a:buFontTx/>
              <a:buChar char="-"/>
            </a:pPr>
            <a:endParaRPr lang="en-US" dirty="0"/>
          </a:p>
          <a:p>
            <a:pPr marL="285750" lvl="0" indent="-285750">
              <a:buSzPts val="1100"/>
              <a:buFontTx/>
              <a:buChar char="-"/>
            </a:pPr>
            <a:r>
              <a:rPr lang="en-US" dirty="0">
                <a:hlinkClick r:id="rId6"/>
              </a:rPr>
              <a:t>TDLR infosec</a:t>
            </a:r>
            <a:r>
              <a:rPr lang="en-US" dirty="0"/>
              <a:t> (daily)</a:t>
            </a:r>
          </a:p>
          <a:p>
            <a:pPr marL="285750" lvl="0" indent="-285750">
              <a:buSzPts val="1100"/>
              <a:buFontTx/>
              <a:buChar char="-"/>
            </a:pPr>
            <a:endParaRPr lang="en-US" dirty="0"/>
          </a:p>
          <a:p>
            <a:pPr marL="285750" lvl="0" indent="-285750">
              <a:buSzPts val="1100"/>
              <a:buFontTx/>
              <a:buChar char="-"/>
            </a:pPr>
            <a:r>
              <a:rPr lang="en-US" dirty="0">
                <a:hlinkClick r:id="rId7"/>
              </a:rPr>
              <a:t>Vulnerable U</a:t>
            </a:r>
            <a:r>
              <a:rPr lang="en-US" dirty="0"/>
              <a:t> (weekly)</a:t>
            </a:r>
          </a:p>
          <a:p>
            <a:pPr marL="285750" lvl="0" indent="-285750">
              <a:buSzPts val="1100"/>
              <a:buFontTx/>
              <a:buChar char="-"/>
            </a:pPr>
            <a:endParaRPr lang="en-US" dirty="0"/>
          </a:p>
          <a:p>
            <a:pPr marL="285750" lvl="0" indent="-285750">
              <a:buSzPts val="1100"/>
              <a:buFontTx/>
              <a:buChar char="-"/>
            </a:pPr>
            <a:r>
              <a:rPr lang="en-US" dirty="0">
                <a:hlinkClick r:id="rId8"/>
              </a:rPr>
              <a:t>API security</a:t>
            </a:r>
            <a:r>
              <a:rPr lang="en-US" dirty="0"/>
              <a:t> (bi-weekly)</a:t>
            </a:r>
          </a:p>
          <a:p>
            <a:pPr marL="285750" lvl="0" indent="-285750">
              <a:buSzPts val="1100"/>
              <a:buFontTx/>
              <a:buChar char="-"/>
            </a:pPr>
            <a:endParaRPr lang="en-US" dirty="0"/>
          </a:p>
          <a:p>
            <a:pPr marL="285750" lvl="0" indent="-285750">
              <a:buSzPts val="1100"/>
              <a:buFontTx/>
              <a:buChar char="-"/>
            </a:pPr>
            <a:r>
              <a:rPr lang="en-US" dirty="0">
                <a:hlinkClick r:id="rId9"/>
              </a:rPr>
              <a:t>Blockchain threat </a:t>
            </a:r>
            <a:r>
              <a:rPr lang="en-US" dirty="0" err="1">
                <a:hlinkClick r:id="rId9"/>
              </a:rPr>
              <a:t>intellegince</a:t>
            </a:r>
            <a:r>
              <a:rPr lang="en-US" dirty="0"/>
              <a:t> (weekly)</a:t>
            </a:r>
            <a:endParaRPr dirty="0"/>
          </a:p>
        </p:txBody>
      </p:sp>
      <p:cxnSp>
        <p:nvCxnSpPr>
          <p:cNvPr id="403" name="Google Shape;403;p54">
            <a:extLst>
              <a:ext uri="{FF2B5EF4-FFF2-40B4-BE49-F238E27FC236}">
                <a16:creationId xmlns:a16="http://schemas.microsoft.com/office/drawing/2014/main" id="{2F4090EA-EADB-F395-AC00-9236D75663F8}"/>
              </a:ext>
            </a:extLst>
          </p:cNvPr>
          <p:cNvCxnSpPr/>
          <p:nvPr/>
        </p:nvCxnSpPr>
        <p:spPr>
          <a:xfrm>
            <a:off x="-19500" y="1152025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51807F65-ECDE-48E3-0E8B-C4FBF0C384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74662" y="1966304"/>
            <a:ext cx="1558984" cy="155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B1E1FE-F183-1623-CED6-64FE6ACB7D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3468" y="1533138"/>
            <a:ext cx="2242200" cy="224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6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D2FB3BF7-1326-A6B7-E9D2-B6A31FCB2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>
            <a:extLst>
              <a:ext uri="{FF2B5EF4-FFF2-40B4-BE49-F238E27FC236}">
                <a16:creationId xmlns:a16="http://schemas.microsoft.com/office/drawing/2014/main" id="{8A5BA87D-DD2B-6573-DB0D-3ECB3D1A07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Certifications</a:t>
            </a:r>
            <a:endParaRPr dirty="0"/>
          </a:p>
        </p:txBody>
      </p:sp>
      <p:cxnSp>
        <p:nvCxnSpPr>
          <p:cNvPr id="403" name="Google Shape;403;p54">
            <a:extLst>
              <a:ext uri="{FF2B5EF4-FFF2-40B4-BE49-F238E27FC236}">
                <a16:creationId xmlns:a16="http://schemas.microsoft.com/office/drawing/2014/main" id="{FCC44FD7-46D9-C004-6229-D10999BD5BCD}"/>
              </a:ext>
            </a:extLst>
          </p:cNvPr>
          <p:cNvCxnSpPr/>
          <p:nvPr/>
        </p:nvCxnSpPr>
        <p:spPr>
          <a:xfrm>
            <a:off x="-19500" y="1152025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4A0A5D2F-97D2-C8FC-0E9C-7CA10F79FD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74662" y="1966304"/>
            <a:ext cx="1558984" cy="155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D2FAD938-8791-C7B8-D442-845B3300B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691" y="1266328"/>
            <a:ext cx="7074568" cy="359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76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EFA24228-DBBE-ECE9-55AB-50408988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>
            <a:extLst>
              <a:ext uri="{FF2B5EF4-FFF2-40B4-BE49-F238E27FC236}">
                <a16:creationId xmlns:a16="http://schemas.microsoft.com/office/drawing/2014/main" id="{E6CACDB3-7FB9-E344-DB2C-0E49B92B1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Certifications self study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797ED-A9FC-217E-F4BF-1FFD1F574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275" y="1764551"/>
            <a:ext cx="4319700" cy="2242200"/>
          </a:xfrm>
        </p:spPr>
        <p:txBody>
          <a:bodyPr/>
          <a:lstStyle/>
          <a:p>
            <a:r>
              <a:rPr lang="en-US" dirty="0">
                <a:hlinkClick r:id="rId3"/>
              </a:rPr>
              <a:t>ISC2</a:t>
            </a:r>
            <a:r>
              <a:rPr lang="en-US" dirty="0"/>
              <a:t> (ISC2 Certs)</a:t>
            </a:r>
          </a:p>
          <a:p>
            <a:endParaRPr lang="en-US" dirty="0"/>
          </a:p>
          <a:p>
            <a:r>
              <a:rPr lang="en-US" dirty="0">
                <a:hlinkClick r:id="rId4"/>
              </a:rPr>
              <a:t>Cybrary</a:t>
            </a:r>
            <a:r>
              <a:rPr lang="en-US" dirty="0"/>
              <a:t> (COMPTIA, Cisco CCNA, Certified ethical hacker)</a:t>
            </a:r>
          </a:p>
          <a:p>
            <a:endParaRPr lang="en-US" dirty="0"/>
          </a:p>
          <a:p>
            <a:r>
              <a:rPr lang="en-US" dirty="0">
                <a:hlinkClick r:id="rId5"/>
              </a:rPr>
              <a:t>Exam topic </a:t>
            </a:r>
            <a:r>
              <a:rPr lang="en-US" dirty="0"/>
              <a:t>(more than 170 cert providers)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403" name="Google Shape;403;p54">
            <a:extLst>
              <a:ext uri="{FF2B5EF4-FFF2-40B4-BE49-F238E27FC236}">
                <a16:creationId xmlns:a16="http://schemas.microsoft.com/office/drawing/2014/main" id="{7537BA89-1E10-59FF-AF32-486CF05998EF}"/>
              </a:ext>
            </a:extLst>
          </p:cNvPr>
          <p:cNvCxnSpPr/>
          <p:nvPr/>
        </p:nvCxnSpPr>
        <p:spPr>
          <a:xfrm>
            <a:off x="-19500" y="1152025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73F3F550-59C1-A5F6-F27D-E7B05474C3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74662" y="1966304"/>
            <a:ext cx="1558984" cy="155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CC678AE-E384-2BDA-1421-82C6AE962F57}"/>
              </a:ext>
            </a:extLst>
          </p:cNvPr>
          <p:cNvSpPr txBox="1">
            <a:spLocks/>
          </p:cNvSpPr>
          <p:nvPr/>
        </p:nvSpPr>
        <p:spPr>
          <a:xfrm>
            <a:off x="4571975" y="1764551"/>
            <a:ext cx="4319700" cy="22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mpt"/>
              <a:buChar char="■"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mpt"/>
              <a:buChar char="○"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mpt"/>
              <a:buChar char="■"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mpt"/>
              <a:buChar char="●"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mpt"/>
              <a:buChar char="○"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mpt"/>
              <a:buChar char="■"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mpt"/>
              <a:buChar char="●"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mpt"/>
              <a:buChar char="○"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mpt"/>
              <a:buChar char="■"/>
              <a:defRPr sz="14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r>
              <a:rPr lang="en-US" dirty="0">
                <a:hlinkClick r:id="rId6"/>
              </a:rPr>
              <a:t>Cybersecurity </a:t>
            </a:r>
            <a:r>
              <a:rPr lang="en-US" dirty="0" err="1">
                <a:hlinkClick r:id="rId6"/>
              </a:rPr>
              <a:t>youtube</a:t>
            </a:r>
            <a:r>
              <a:rPr lang="en-US" dirty="0">
                <a:hlinkClick r:id="rId6"/>
              </a:rPr>
              <a:t> playlist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7"/>
              </a:rPr>
              <a:t>ISC2 by secure the humans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8"/>
              </a:rPr>
              <a:t>CCNA by information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608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19D8F0D7-B709-3329-91F6-C0CCDAFA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>
            <a:extLst>
              <a:ext uri="{FF2B5EF4-FFF2-40B4-BE49-F238E27FC236}">
                <a16:creationId xmlns:a16="http://schemas.microsoft.com/office/drawing/2014/main" id="{A77E3CAD-F320-E00D-AA43-5843166614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9496" y="2265300"/>
            <a:ext cx="3185007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Internships?</a:t>
            </a:r>
            <a:endParaRPr dirty="0"/>
          </a:p>
        </p:txBody>
      </p:sp>
      <p:cxnSp>
        <p:nvCxnSpPr>
          <p:cNvPr id="403" name="Google Shape;403;p54">
            <a:extLst>
              <a:ext uri="{FF2B5EF4-FFF2-40B4-BE49-F238E27FC236}">
                <a16:creationId xmlns:a16="http://schemas.microsoft.com/office/drawing/2014/main" id="{8F7EA984-8BFB-DE02-2072-C97F8F0439AC}"/>
              </a:ext>
            </a:extLst>
          </p:cNvPr>
          <p:cNvCxnSpPr/>
          <p:nvPr/>
        </p:nvCxnSpPr>
        <p:spPr>
          <a:xfrm>
            <a:off x="-19500" y="1152025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DAD5437C-76D2-2A92-1A3E-C164463967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74662" y="1966304"/>
            <a:ext cx="1558984" cy="155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Google Shape;349;p50">
            <a:extLst>
              <a:ext uri="{FF2B5EF4-FFF2-40B4-BE49-F238E27FC236}">
                <a16:creationId xmlns:a16="http://schemas.microsoft.com/office/drawing/2014/main" id="{A1324674-D900-21D3-FB31-A4A767453F2E}"/>
              </a:ext>
            </a:extLst>
          </p:cNvPr>
          <p:cNvSpPr/>
          <p:nvPr/>
        </p:nvSpPr>
        <p:spPr>
          <a:xfrm>
            <a:off x="6263299" y="2144100"/>
            <a:ext cx="6517800" cy="85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49;p50">
            <a:extLst>
              <a:ext uri="{FF2B5EF4-FFF2-40B4-BE49-F238E27FC236}">
                <a16:creationId xmlns:a16="http://schemas.microsoft.com/office/drawing/2014/main" id="{F31D0C12-8BFD-F991-0052-6E2C6311EFF5}"/>
              </a:ext>
            </a:extLst>
          </p:cNvPr>
          <p:cNvSpPr/>
          <p:nvPr/>
        </p:nvSpPr>
        <p:spPr>
          <a:xfrm>
            <a:off x="-3637100" y="2144100"/>
            <a:ext cx="6517800" cy="85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5529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55"/>
          <p:cNvGrpSpPr/>
          <p:nvPr/>
        </p:nvGrpSpPr>
        <p:grpSpPr>
          <a:xfrm flipH="1">
            <a:off x="0" y="1403775"/>
            <a:ext cx="9144125" cy="855300"/>
            <a:chOff x="0" y="1403775"/>
            <a:chExt cx="9144125" cy="855300"/>
          </a:xfrm>
        </p:grpSpPr>
        <p:sp>
          <p:nvSpPr>
            <p:cNvPr id="409" name="Google Shape;409;p55"/>
            <p:cNvSpPr/>
            <p:nvPr/>
          </p:nvSpPr>
          <p:spPr>
            <a:xfrm>
              <a:off x="0" y="1403775"/>
              <a:ext cx="713400" cy="8553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5"/>
            <p:cNvSpPr/>
            <p:nvPr/>
          </p:nvSpPr>
          <p:spPr>
            <a:xfrm>
              <a:off x="2626325" y="1403775"/>
              <a:ext cx="6517800" cy="855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11" name="Google Shape;411;p55"/>
          <p:cNvCxnSpPr/>
          <p:nvPr/>
        </p:nvCxnSpPr>
        <p:spPr>
          <a:xfrm>
            <a:off x="-19500" y="3837900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55"/>
          <p:cNvSpPr txBox="1">
            <a:spLocks noGrp="1"/>
          </p:cNvSpPr>
          <p:nvPr>
            <p:ph type="title"/>
          </p:nvPr>
        </p:nvSpPr>
        <p:spPr>
          <a:xfrm flipH="1">
            <a:off x="2101800" y="2998800"/>
            <a:ext cx="6329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413" name="Google Shape;413;p55"/>
          <p:cNvSpPr txBox="1">
            <a:spLocks noGrp="1"/>
          </p:cNvSpPr>
          <p:nvPr>
            <p:ph type="title" idx="2"/>
          </p:nvPr>
        </p:nvSpPr>
        <p:spPr>
          <a:xfrm flipH="1">
            <a:off x="6517800" y="1320075"/>
            <a:ext cx="1913100" cy="10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402" name="Google Shape;402;p54"/>
          <p:cNvSpPr txBox="1">
            <a:spLocks noGrp="1"/>
          </p:cNvSpPr>
          <p:nvPr>
            <p:ph type="body" idx="1"/>
          </p:nvPr>
        </p:nvSpPr>
        <p:spPr>
          <a:xfrm>
            <a:off x="417591" y="1283088"/>
            <a:ext cx="6753230" cy="22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buSzPts val="1100"/>
              <a:buAutoNum type="arabicPeriod"/>
            </a:pPr>
            <a:r>
              <a:rPr lang="en-US" dirty="0">
                <a:hlinkClick r:id="rId3"/>
              </a:rPr>
              <a:t>https://www.cisco.com/site/us/en/learn/topics/security/what-is-cybersecurity.html</a:t>
            </a:r>
            <a:endParaRPr lang="en-US" dirty="0"/>
          </a:p>
          <a:p>
            <a:pPr marL="342900" lvl="0" indent="-342900">
              <a:buSzPts val="1100"/>
              <a:buAutoNum type="arabicPeriod"/>
            </a:pPr>
            <a:r>
              <a:rPr lang="en-US" dirty="0">
                <a:hlinkClick r:id="rId4"/>
              </a:rPr>
              <a:t>https://www.hotcourses.ae/study-abroad-info/careers-prospects/cybersecurity-jobs/</a:t>
            </a:r>
            <a:endParaRPr lang="en-US" dirty="0"/>
          </a:p>
          <a:p>
            <a:pPr marL="342900" lvl="0" indent="-342900">
              <a:buSzPts val="1100"/>
              <a:buAutoNum type="arabicPeriod"/>
            </a:pPr>
            <a:r>
              <a:rPr lang="en-US" dirty="0">
                <a:hlinkClick r:id="rId5"/>
              </a:rPr>
              <a:t>https://www.salaryexpert.com/salary/job/cyber-security-analyst/egypt#:~:text=202.98%20%D8%AC.%D9%85.%E2%80%8F%20(,%E2%80%8F</a:t>
            </a:r>
            <a:r>
              <a:rPr lang="en-US" dirty="0"/>
              <a:t>.</a:t>
            </a:r>
          </a:p>
          <a:p>
            <a:pPr marL="342900" lvl="0" indent="-342900">
              <a:buSzPts val="1100"/>
              <a:buAutoNum type="arabicPeriod"/>
            </a:pPr>
            <a:r>
              <a:rPr lang="en-US" dirty="0">
                <a:hlinkClick r:id="rId6"/>
              </a:rPr>
              <a:t>https://www.indeed.com/career/cybersecurity-analyst/salaries</a:t>
            </a:r>
            <a:endParaRPr lang="en-US" dirty="0"/>
          </a:p>
          <a:p>
            <a:pPr marL="342900" lvl="0" indent="-342900">
              <a:buSzPts val="1100"/>
              <a:buAutoNum type="arabicPeriod"/>
            </a:pPr>
            <a:r>
              <a:rPr lang="en-US" dirty="0">
                <a:hlinkClick r:id="rId7"/>
              </a:rPr>
              <a:t>https://encryptorium.medium.com/understanding-cybersecurity-teams-red-blue-green-white-and-more-a114ada67021</a:t>
            </a:r>
            <a:endParaRPr lang="en-US" dirty="0"/>
          </a:p>
          <a:p>
            <a:pPr marL="342900" lvl="0" indent="-342900">
              <a:buSzPts val="1100"/>
              <a:buAutoNum type="arabicPeriod"/>
            </a:pPr>
            <a:r>
              <a:rPr lang="en-US" dirty="0"/>
              <a:t>https://github.com/TalEliyahu/awesome-security-newsletters</a:t>
            </a:r>
          </a:p>
          <a:p>
            <a:pPr marL="342900" lvl="0" indent="-342900">
              <a:buSzPts val="1100"/>
              <a:buAutoNum type="arabicPeriod"/>
            </a:pPr>
            <a:endParaRPr lang="en-US" dirty="0"/>
          </a:p>
          <a:p>
            <a:pPr marL="342900" lvl="0" indent="-342900">
              <a:buSzPts val="1100"/>
              <a:buAutoNum type="arabicPeriod"/>
            </a:pPr>
            <a:endParaRPr lang="en-US" dirty="0"/>
          </a:p>
          <a:p>
            <a:pPr marL="0" lvl="0" indent="0">
              <a:buSzPts val="1100"/>
              <a:buNone/>
            </a:pPr>
            <a:endParaRPr dirty="0"/>
          </a:p>
        </p:txBody>
      </p:sp>
      <p:cxnSp>
        <p:nvCxnSpPr>
          <p:cNvPr id="403" name="Google Shape;403;p54"/>
          <p:cNvCxnSpPr/>
          <p:nvPr/>
        </p:nvCxnSpPr>
        <p:spPr>
          <a:xfrm>
            <a:off x="-19500" y="1152025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>
          <a:extLst>
            <a:ext uri="{FF2B5EF4-FFF2-40B4-BE49-F238E27FC236}">
              <a16:creationId xmlns:a16="http://schemas.microsoft.com/office/drawing/2014/main" id="{5E6CE323-097A-41F9-F294-78BB59E46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55">
            <a:extLst>
              <a:ext uri="{FF2B5EF4-FFF2-40B4-BE49-F238E27FC236}">
                <a16:creationId xmlns:a16="http://schemas.microsoft.com/office/drawing/2014/main" id="{EA9ED314-FF67-E3E2-4868-88176D04B42A}"/>
              </a:ext>
            </a:extLst>
          </p:cNvPr>
          <p:cNvGrpSpPr/>
          <p:nvPr/>
        </p:nvGrpSpPr>
        <p:grpSpPr>
          <a:xfrm flipH="1">
            <a:off x="0" y="1403775"/>
            <a:ext cx="9144125" cy="855300"/>
            <a:chOff x="0" y="1403775"/>
            <a:chExt cx="9144125" cy="855300"/>
          </a:xfrm>
        </p:grpSpPr>
        <p:sp>
          <p:nvSpPr>
            <p:cNvPr id="409" name="Google Shape;409;p55">
              <a:extLst>
                <a:ext uri="{FF2B5EF4-FFF2-40B4-BE49-F238E27FC236}">
                  <a16:creationId xmlns:a16="http://schemas.microsoft.com/office/drawing/2014/main" id="{B76F3175-382C-E82D-42A7-B939290DD649}"/>
                </a:ext>
              </a:extLst>
            </p:cNvPr>
            <p:cNvSpPr/>
            <p:nvPr/>
          </p:nvSpPr>
          <p:spPr>
            <a:xfrm>
              <a:off x="0" y="1403775"/>
              <a:ext cx="713400" cy="8553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5">
              <a:extLst>
                <a:ext uri="{FF2B5EF4-FFF2-40B4-BE49-F238E27FC236}">
                  <a16:creationId xmlns:a16="http://schemas.microsoft.com/office/drawing/2014/main" id="{97F99F69-33BA-FC82-7D0A-912F337042D3}"/>
                </a:ext>
              </a:extLst>
            </p:cNvPr>
            <p:cNvSpPr/>
            <p:nvPr/>
          </p:nvSpPr>
          <p:spPr>
            <a:xfrm>
              <a:off x="2626325" y="1403775"/>
              <a:ext cx="6517800" cy="855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11" name="Google Shape;411;p55">
            <a:extLst>
              <a:ext uri="{FF2B5EF4-FFF2-40B4-BE49-F238E27FC236}">
                <a16:creationId xmlns:a16="http://schemas.microsoft.com/office/drawing/2014/main" id="{53B482B0-BBCA-EB96-A99A-6345D7D148E4}"/>
              </a:ext>
            </a:extLst>
          </p:cNvPr>
          <p:cNvCxnSpPr/>
          <p:nvPr/>
        </p:nvCxnSpPr>
        <p:spPr>
          <a:xfrm>
            <a:off x="-19500" y="3837900"/>
            <a:ext cx="9183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2" name="Google Shape;412;p55">
            <a:extLst>
              <a:ext uri="{FF2B5EF4-FFF2-40B4-BE49-F238E27FC236}">
                <a16:creationId xmlns:a16="http://schemas.microsoft.com/office/drawing/2014/main" id="{F58C900C-0E81-A372-F301-181CD3EF15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2101800" y="2998800"/>
            <a:ext cx="6329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Plans</a:t>
            </a:r>
            <a:endParaRPr dirty="0"/>
          </a:p>
        </p:txBody>
      </p:sp>
      <p:sp>
        <p:nvSpPr>
          <p:cNvPr id="413" name="Google Shape;413;p55">
            <a:extLst>
              <a:ext uri="{FF2B5EF4-FFF2-40B4-BE49-F238E27FC236}">
                <a16:creationId xmlns:a16="http://schemas.microsoft.com/office/drawing/2014/main" id="{18C06620-A238-E437-657B-50DF1208260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 flipH="1">
            <a:off x="6517800" y="1320075"/>
            <a:ext cx="1913100" cy="102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929822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Black and White Theme for College by Slidesgo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909</Words>
  <Application>Microsoft Office PowerPoint</Application>
  <PresentationFormat>On-screen Show (16:9)</PresentationFormat>
  <Paragraphs>158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Prompt</vt:lpstr>
      <vt:lpstr>Space Mono</vt:lpstr>
      <vt:lpstr>Roboto Condensed</vt:lpstr>
      <vt:lpstr>Modern Black and White Theme for College by Slidesgo</vt:lpstr>
      <vt:lpstr>Cyber Security  Re-Introduction,Future Plans, And Resources</vt:lpstr>
      <vt:lpstr>CONTENTS</vt:lpstr>
      <vt:lpstr>Breaking news!</vt:lpstr>
      <vt:lpstr>What is cyber security?</vt:lpstr>
      <vt:lpstr>PowerPoint Presentation</vt:lpstr>
      <vt:lpstr>Job market</vt:lpstr>
      <vt:lpstr>Roles</vt:lpstr>
      <vt:lpstr>Salaries</vt:lpstr>
      <vt:lpstr>Salaries</vt:lpstr>
      <vt:lpstr>Tracks</vt:lpstr>
      <vt:lpstr>Teams</vt:lpstr>
      <vt:lpstr>Teams</vt:lpstr>
      <vt:lpstr>Teams</vt:lpstr>
      <vt:lpstr>Resources</vt:lpstr>
      <vt:lpstr>Newsletters</vt:lpstr>
      <vt:lpstr>Certifications</vt:lpstr>
      <vt:lpstr>Certifications self study</vt:lpstr>
      <vt:lpstr>Internships?</vt:lpstr>
      <vt:lpstr>References</vt:lpstr>
      <vt:lpstr>References</vt:lpstr>
      <vt:lpstr>Future Plans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aya 320230201</cp:lastModifiedBy>
  <cp:revision>8</cp:revision>
  <dcterms:modified xsi:type="dcterms:W3CDTF">2026-04-21T05:20:39Z</dcterms:modified>
</cp:coreProperties>
</file>